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500" y="838200"/>
            <a:ext cx="18021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LA PLATEFORME · PARIS · RNCP NIVEAU 5 — BAC+2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52500" y="3014663"/>
            <a:ext cx="18021300" cy="998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Dossier de Projet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52500" y="4165253"/>
            <a:ext cx="18021300" cy="5828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Titre Professionnel · Développeur Web et Web Mobile (DWWM)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52500" y="5281464"/>
            <a:ext cx="6858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52500" y="5814875"/>
            <a:ext cx="17335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Amad-Khaly Diallo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52500" y="6700700"/>
            <a:ext cx="17335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La Plateforme · Paris · Juin 2026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52500" y="9120188"/>
            <a:ext cx="23184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2 projets présentés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4234220" y="9001125"/>
            <a:ext cx="1335584" cy="523875"/>
          </a:xfrm>
          <a:prstGeom prst="roundRect">
            <a:avLst>
              <a:gd fmla="val 14545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4510445" y="9124950"/>
            <a:ext cx="8593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marsAI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5722203" y="9001125"/>
            <a:ext cx="1613297" cy="523875"/>
          </a:xfrm>
          <a:prstGeom prst="roundRect">
            <a:avLst>
              <a:gd fmla="val 14545" name="adj"/>
            </a:avLst>
          </a:prstGeom>
          <a:solidFill>
            <a:srgbClr val="2563EB">
              <a:alpha val="14901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5998428" y="9124950"/>
            <a:ext cx="11370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artisan-ai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LE CANDIDAT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Amad-Khaly Diallo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52500" y="2495550"/>
            <a:ext cx="10831068" cy="15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Après un parcours orienté vers le numérique, j'ai intégré la formation Développeur Web et Web Mobile dispensée par La Plateforme.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52500" y="4316462"/>
            <a:ext cx="10831068" cy="2110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Cette formation intensive de 16 mois m'a permis d'acquérir les compétences techniques nécessaires à la conception et au développement d'applications web complètes </a:t>
            </a:r>
            <a:r>
              <a:rPr lang="en-US" sz="2550">
                <a:solidFill>
                  <a:srgbClr val="5A6A85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aussi bien côté front-end que back-end.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52500" y="6655451"/>
            <a:ext cx="108312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 dossier présente deux projets concrets démontrant la maîtrise des activités types définies par le référentiel DWWM : développement d'une application web front-end (AT1) et d'une application web back-end sécurisée (AT2).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2077700" y="2495550"/>
            <a:ext cx="5257800" cy="1781175"/>
          </a:xfrm>
          <a:prstGeom prst="roundRect">
            <a:avLst>
              <a:gd fmla="val 8556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19050">
              <a:srgbClr val="0F1B3E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2192000" y="2838450"/>
            <a:ext cx="5029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2192000" y="3600450"/>
            <a:ext cx="5029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mois de formation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2077700" y="4467225"/>
            <a:ext cx="5257800" cy="1781175"/>
          </a:xfrm>
          <a:prstGeom prst="roundRect">
            <a:avLst>
              <a:gd fmla="val 8556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19050">
              <a:srgbClr val="0F1B3E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2192000" y="4810125"/>
            <a:ext cx="5029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2563EB"/>
                </a:solidFill>
              </a:rPr>
              <a:t>10+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2192000" y="5572125"/>
            <a:ext cx="5029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projets complets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077700" y="6438900"/>
            <a:ext cx="5257800" cy="1781175"/>
          </a:xfrm>
          <a:prstGeom prst="roundRect">
            <a:avLst>
              <a:gd fmla="val 8556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19050">
              <a:srgbClr val="0F1B3E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2192000" y="6781800"/>
            <a:ext cx="5029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2563EB"/>
                </a:solidFill>
              </a:rPr>
              <a:t>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2192000" y="7543800"/>
            <a:ext cx="50292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5A6A85"/>
                </a:solidFill>
              </a:rPr>
              <a:t>projets présentés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Sommaire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52500" y="2733675"/>
            <a:ext cx="16383000" cy="146685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333500" y="3219450"/>
            <a:ext cx="723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362200" y="3038475"/>
            <a:ext cx="543242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 Formation DWWM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362200" y="3609975"/>
            <a:ext cx="54324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La Plateforme Paris · Parcours &amp; compétences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52500" y="4429125"/>
            <a:ext cx="16383000" cy="146685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333500" y="4914900"/>
            <a:ext cx="73476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373064" y="4733925"/>
            <a:ext cx="62452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marsAI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373064" y="5305425"/>
            <a:ext cx="62452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Plateforme full-stack · Festival de films courts avec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952500" y="6124575"/>
            <a:ext cx="16383000" cy="146685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333500" y="6610350"/>
            <a:ext cx="74428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382589" y="6429375"/>
            <a:ext cx="4997604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artisan-ai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382589" y="7000875"/>
            <a:ext cx="49976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Assistant WhatsApp IA pour artisans · SaaS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52500" y="7820025"/>
            <a:ext cx="16383000" cy="1466850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1333500" y="8305800"/>
            <a:ext cx="759916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398216" y="8124825"/>
            <a:ext cx="4777413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Compétences &amp; Bilan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398216" y="8696325"/>
            <a:ext cx="477741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AT1 · AT2 · Transversales · Perspectives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952500" y="838200"/>
            <a:ext cx="17170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FORMATION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52500" y="1266825"/>
            <a:ext cx="17335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 Plateforme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952500" y="2495550"/>
            <a:ext cx="10831068" cy="15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 Plateforme est un centre de formation spécialisé dans les métiers du digital, basé à </a:t>
            </a:r>
            <a:r>
              <a:rPr lang="en-US" sz="2550">
                <a:solidFill>
                  <a:srgbClr val="0F172A"/>
                </a:solidFill>
              </a:rPr>
              <a:t>Marseille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 Sa pédagogie intensive par projets prépare les apprenants aux défis concrets du métier de développeur.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52500" y="4316462"/>
            <a:ext cx="10831068" cy="2628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Le cycle de développement web enseigné couvre l'ensemble des compétences professionnelles : de la conception à la mise en production, en passant par la gestion des bases de données, la sécurisation des applications et le travail en équipe avec des méthodes agiles.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2077700" y="2495550"/>
            <a:ext cx="5257800" cy="2064990"/>
          </a:xfrm>
          <a:prstGeom prst="roundRect">
            <a:avLst>
              <a:gd fmla="val 7380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12233910" y="2876550"/>
            <a:ext cx="494538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CERTIFICATION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2233910" y="3267075"/>
            <a:ext cx="4945380" cy="5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RNCP Niveau 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2233910" y="3846165"/>
            <a:ext cx="494538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Équivalent Bac+2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FORMATION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952500" y="1266825"/>
            <a:ext cx="17335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Formation DWWM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952500" y="2495550"/>
            <a:ext cx="5283000" cy="2724300"/>
          </a:xfrm>
          <a:prstGeom prst="roundRect">
            <a:avLst>
              <a:gd fmla="val 5785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1257300" y="2800350"/>
            <a:ext cx="514085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LANGAGES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257300" y="3267075"/>
            <a:ext cx="514085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HTML5 · CSS3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257300" y="3714750"/>
            <a:ext cx="514085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JavaScript ES6+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257300" y="4162425"/>
            <a:ext cx="514085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502300" y="2495550"/>
            <a:ext cx="5283300" cy="2724300"/>
          </a:xfrm>
          <a:prstGeom prst="roundRect">
            <a:avLst>
              <a:gd fmla="val 5785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6807101" y="2800350"/>
            <a:ext cx="51410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FRONT-END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807101" y="3267075"/>
            <a:ext cx="51410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807101" y="3714750"/>
            <a:ext cx="51410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Next.js 14 (App Router)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807101" y="4162425"/>
            <a:ext cx="51410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Tailwind CSS · </a:t>
            </a:r>
            <a:r>
              <a:rPr lang="en-US" sz="2100">
                <a:solidFill>
                  <a:srgbClr val="0F172A"/>
                </a:solidFill>
              </a:rPr>
              <a:t>Bootstrap</a:t>
            </a:r>
            <a:r>
              <a:rPr lang="en-US" sz="2100">
                <a:solidFill>
                  <a:srgbClr val="0F172A"/>
                </a:solidFill>
              </a:rPr>
              <a:t> </a:t>
            </a: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2052250" y="2495550"/>
            <a:ext cx="5283300" cy="2724300"/>
          </a:xfrm>
          <a:prstGeom prst="roundRect">
            <a:avLst>
              <a:gd fmla="val 5785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2357050" y="2800350"/>
            <a:ext cx="4978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2357050" y="3267075"/>
            <a:ext cx="497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Node.js · Express.js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2357050" y="3714750"/>
            <a:ext cx="489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API REST · Architecture MVC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871175" y="5514975"/>
            <a:ext cx="5283000" cy="2305200"/>
          </a:xfrm>
          <a:prstGeom prst="roundRect">
            <a:avLst>
              <a:gd fmla="val 5785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1175975" y="5819775"/>
            <a:ext cx="51408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BASES DE DONNÉES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175975" y="6286500"/>
            <a:ext cx="5140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MariaDB · MySQL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175975" y="6734175"/>
            <a:ext cx="5140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PostgreSQL via Supabase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175975" y="7181850"/>
            <a:ext cx="5140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SQL paramétré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420976" y="5514975"/>
            <a:ext cx="5283300" cy="2305200"/>
          </a:xfrm>
          <a:prstGeom prst="roundRect">
            <a:avLst>
              <a:gd fmla="val 5785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725776" y="5819775"/>
            <a:ext cx="5141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725776" y="6286500"/>
            <a:ext cx="5141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JWT · bcrypt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725776" y="6734175"/>
            <a:ext cx="5141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Helmet · CORS · Rate-limit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725776" y="7181850"/>
            <a:ext cx="5141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OWASP Top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1970925" y="5514975"/>
            <a:ext cx="5283300" cy="2305200"/>
          </a:xfrm>
          <a:prstGeom prst="roundRect">
            <a:avLst>
              <a:gd fmla="val 5785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2275725" y="5819775"/>
            <a:ext cx="5141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MÉTHODES &amp; OUTILS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2275725" y="6286500"/>
            <a:ext cx="5141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Git · GitHub · Docker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2275725" y="6734175"/>
            <a:ext cx="5141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Agile · Stand-ups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2275725" y="7181850"/>
            <a:ext cx="5141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GitHub Projects (Kanban)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257325" y="4614900"/>
            <a:ext cx="5140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0F172A"/>
                </a:solidFill>
              </a:rPr>
              <a:t>PHP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2357075" y="4129125"/>
            <a:ext cx="48972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0F172A"/>
                </a:solidFill>
              </a:rPr>
              <a:t>PHP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2357075" y="4614900"/>
            <a:ext cx="4978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0F172A"/>
                </a:solidFill>
              </a:rPr>
              <a:t>Symfony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952500" y="2531864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PROJET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952500" y="3074789"/>
            <a:ext cx="18021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0"/>
              <a:buFont typeface="Arial"/>
              <a:buNone/>
            </a:pPr>
            <a:r>
              <a:rPr b="1" i="0" lang="en-US" sz="8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marsAI</a:t>
            </a:r>
            <a:endParaRPr b="0" i="0" sz="8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952500" y="4370189"/>
            <a:ext cx="6858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952500" y="4751201"/>
            <a:ext cx="8044800" cy="2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Plateforme full-stack de gestion d'un festival de films courts intégrant l'intelligence artificielle. Réalisé en équipe de cinq développeurs </a:t>
            </a:r>
            <a:r>
              <a:rPr lang="en-US" sz="2550">
                <a:solidFill>
                  <a:srgbClr val="94A3B8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rôle de lead développeur back-end.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52500" y="7628736"/>
            <a:ext cx="1367400" cy="485700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1171575" y="7733511"/>
            <a:ext cx="1005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2510433" y="7628736"/>
            <a:ext cx="2358300" cy="485700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2729508" y="7733511"/>
            <a:ext cx="1996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· Express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059263" y="7628736"/>
            <a:ext cx="1379400" cy="485700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278338" y="7733511"/>
            <a:ext cx="10173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629102" y="7628736"/>
            <a:ext cx="1226700" cy="485700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848177" y="7733511"/>
            <a:ext cx="864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046227" y="7647861"/>
            <a:ext cx="1226700" cy="485700"/>
          </a:xfrm>
          <a:prstGeom prst="roundRect">
            <a:avLst>
              <a:gd fmla="val 15686" name="adj"/>
            </a:avLst>
          </a:prstGeom>
          <a:solidFill>
            <a:srgbClr val="2563EB">
              <a:alpha val="25099"/>
            </a:srgbClr>
          </a:solidFill>
          <a:ln cap="flat" cmpd="sng" w="9525">
            <a:solidFill>
              <a:srgbClr val="93C5FD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8265302" y="7752636"/>
            <a:ext cx="864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93C5FD"/>
                </a:solidFill>
              </a:rPr>
              <a:t>Sanity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CONTEXTE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Contexte &amp; Objectifs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952500" y="2495550"/>
            <a:ext cx="12185100" cy="28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marsAI est une plateforme web full-stack dédiée à la gestion d'un festival de films courts </a:t>
            </a:r>
            <a:r>
              <a:rPr lang="en-US" sz="2550">
                <a:solidFill>
                  <a:srgbClr val="0F172A"/>
                </a:solidFill>
              </a:rPr>
              <a:t>générés</a:t>
            </a:r>
            <a:r>
              <a:rPr lang="en-US" sz="2550">
                <a:solidFill>
                  <a:srgbClr val="0F172A"/>
                </a:solidFill>
              </a:rPr>
              <a:t> par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l'intelligence artificielle. Elle permet aux réalisateurs de soumettre leurs films, aux jurés de les évaluer, et à l'équipe organisatrice de gérer l'ensemble via un tableau de bord sécurisé. Le jour du festival, on declare les gagna</a:t>
            </a:r>
            <a:r>
              <a:rPr lang="en-US" sz="2550">
                <a:solidFill>
                  <a:srgbClr val="0F172A"/>
                </a:solidFill>
              </a:rPr>
              <a:t>nts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13392150" y="2495550"/>
            <a:ext cx="3943350" cy="1857375"/>
          </a:xfrm>
          <a:prstGeom prst="roundRect">
            <a:avLst>
              <a:gd fmla="val 8205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13614083" y="2876550"/>
            <a:ext cx="349948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3614083" y="3638550"/>
            <a:ext cx="349948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développeurs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3392150" y="4543425"/>
            <a:ext cx="3943350" cy="1876425"/>
          </a:xfrm>
          <a:prstGeom prst="roundRect">
            <a:avLst>
              <a:gd fmla="val 8122" name="adj"/>
            </a:avLst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19050">
              <a:srgbClr val="2563EB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13593128" y="4905375"/>
            <a:ext cx="354139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MON RÔLE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3593128" y="5276850"/>
            <a:ext cx="354139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Lead Développeur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3593128" y="5724525"/>
            <a:ext cx="35413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Back-End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FONCTIONNALITÉS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Fonctionnalités Principales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952500" y="2495550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1257300" y="2800350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Soumission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257300" y="3429000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Formulaire multi-étapes de dépôt de films avec validation côté client et serveur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6489650" y="2495550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6794450" y="2800350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Jury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794450" y="3429000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Attribution des films, évaluations, flagging vert/jaune/rouge par les jurés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2026801" y="2495550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12331601" y="2800350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Administration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2331601" y="3429000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Tableau de bord avec statistiques, gestion des accès, modération des contenus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952500" y="5202287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257300" y="5507087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Médias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1257300" y="6135737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Stockage Scaleway S3, vérification statuts YouTube, contenu éditorial Sanity CMS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489650" y="5202287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794450" y="5507087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Phases du festival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6794450" y="6135737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Gestion dynamique des 3 phases (</a:t>
            </a:r>
            <a:r>
              <a:rPr lang="en-US" sz="2100">
                <a:solidFill>
                  <a:srgbClr val="5A6A85"/>
                </a:solidFill>
              </a:rPr>
              <a:t>Soumission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100">
                <a:solidFill>
                  <a:srgbClr val="5A6A85"/>
                </a:solidFill>
              </a:rPr>
              <a:t>Evaluation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→ Festival) via hook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2026801" y="5202287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12331601" y="5507087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2331601" y="6135737"/>
            <a:ext cx="4839919" cy="8646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Emails transactionnels via Brevo pour confirmations de soumission et jury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Architecture Générale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952500" y="2495550"/>
            <a:ext cx="4887300" cy="7029600"/>
          </a:xfrm>
          <a:prstGeom prst="roundRect">
            <a:avLst>
              <a:gd fmla="val 2729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952500" y="2495550"/>
            <a:ext cx="4887218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1295400" y="2876550"/>
            <a:ext cx="46215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COUCHE 1 · FRONT-END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295400" y="3305175"/>
            <a:ext cx="46215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295400" y="4010025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Single Page Application (SPA)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1295400" y="4438650"/>
            <a:ext cx="4327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React Router — routes protégées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295400" y="5200650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Tailwind CSS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295400" y="5629275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i18next — </a:t>
            </a:r>
            <a:r>
              <a:rPr lang="en-US" sz="2100">
                <a:solidFill>
                  <a:srgbClr val="5A6A85"/>
                </a:solidFill>
              </a:rPr>
              <a:t>2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langues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6106418" y="2495550"/>
            <a:ext cx="403473" cy="706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8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C8D4E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6700391" y="2495550"/>
            <a:ext cx="4887218" cy="7029450"/>
          </a:xfrm>
          <a:prstGeom prst="roundRect">
            <a:avLst>
              <a:gd fmla="val 2729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6700391" y="2495550"/>
            <a:ext cx="4887218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7043291" y="2876550"/>
            <a:ext cx="46215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COUCHE 2 · BACK-END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043291" y="3305175"/>
            <a:ext cx="46215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REST Express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7043291" y="4010025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Node.js · Express.js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043291" y="4438650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Architecture MVC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043291" y="4867275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Middlewares auth · rate-limit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043291" y="5295900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Pool de connexions MariaDB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7043291" y="5724525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Docker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1854309" y="2495550"/>
            <a:ext cx="403473" cy="706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8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C8D4E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2448282" y="2495550"/>
            <a:ext cx="4887218" cy="7029450"/>
          </a:xfrm>
          <a:prstGeom prst="roundRect">
            <a:avLst>
              <a:gd fmla="val 2729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12448282" y="2495550"/>
            <a:ext cx="4887218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12791182" y="2876550"/>
            <a:ext cx="46215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COUCHE 3 · SERVICES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2791182" y="3305175"/>
            <a:ext cx="462156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Services Tiers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12791182" y="4010025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Scaleway S3 — médias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12791182" y="4438650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Sanity CMS — contenu éditorial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2791182" y="4867275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Brevo — emails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12791182" y="5295900"/>
            <a:ext cx="462156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YouTube API — statuts vidéos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DÉVELOPPEMENT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52500" y="1266825"/>
            <a:ext cx="17335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Front-End — React 19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952500" y="26193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219200" y="2495550"/>
            <a:ext cx="741692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19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SPA déployée indépendamment, composants réutilisables, routage géré côté client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952500" y="43529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1219200" y="4229100"/>
            <a:ext cx="741692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React Router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Navigation protégée, vérification session active, redirections conditionnelles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952500" y="60864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1219200" y="5962650"/>
            <a:ext cx="7416927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Tailwind CSS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Stylisation rapide et cohérente basée sur des classes utilitaires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952500" y="73342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1219200" y="7210425"/>
            <a:ext cx="7416927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Internationalisation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i18next, détection automatique de la langue du navigateur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52500" y="85820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1219200" y="8458200"/>
            <a:ext cx="7416927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Validation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Formulaires validés côté client avant envoi, protection XSS native React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9029700" y="2495550"/>
            <a:ext cx="8305800" cy="2428875"/>
          </a:xfrm>
          <a:prstGeom prst="roundRect">
            <a:avLst>
              <a:gd fmla="val 7843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9448800" y="2914650"/>
            <a:ext cx="8214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STACK FRONT-END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9448800" y="3419475"/>
            <a:ext cx="1291233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9629775" y="3524250"/>
            <a:ext cx="10054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0854333" y="3419475"/>
            <a:ext cx="1778198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11035308" y="3524250"/>
            <a:ext cx="149244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React Router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2746831" y="3419475"/>
            <a:ext cx="1804690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12927806" y="3524250"/>
            <a:ext cx="15189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Tailwind CSS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14665821" y="3419475"/>
            <a:ext cx="1149548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14846796" y="3524250"/>
            <a:ext cx="8637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i18next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9448800" y="4019550"/>
            <a:ext cx="1667470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9629775" y="4124325"/>
            <a:ext cx="13817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Context 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11230570" y="4019550"/>
            <a:ext cx="2674441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11411545" y="4124325"/>
            <a:ext cx="2392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Hooks personnalisés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DÉVELOPPEMENT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Back-End </a:t>
            </a:r>
            <a:r>
              <a:rPr b="1" lang="en-US" sz="4800">
                <a:solidFill>
                  <a:srgbClr val="0F172A"/>
                </a:solidFill>
              </a:rPr>
              <a:t>-</a:t>
            </a: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Node.js &amp; Express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952500" y="2611178"/>
            <a:ext cx="76200" cy="711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1219200" y="2495550"/>
            <a:ext cx="74169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Express.js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Point d'entrée unique pour toutes les données dynamiques, API REST minimaliste et flexible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952500" y="4229966"/>
            <a:ext cx="76200" cy="711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1219200" y="4114338"/>
            <a:ext cx="74169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Architecture MVC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Séparation routes / contrôleurs / services, logique métier dans des modules dédiés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952500" y="5848755"/>
            <a:ext cx="76200" cy="711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3"/>
          <p:cNvSpPr/>
          <p:nvPr/>
        </p:nvSpPr>
        <p:spPr>
          <a:xfrm>
            <a:off x="1219200" y="5733127"/>
            <a:ext cx="74169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Middlewares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Auth JWT, rate-limit, CORS, Helmet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chaîne de validation avant chaque contrôleur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952500" y="7467543"/>
            <a:ext cx="76200" cy="711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1219200" y="7351915"/>
            <a:ext cx="74169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Pool de connexions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MariaDB optimisé : 10 connexions max simultanées, file d'attente illimitée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952500" y="87555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1219200" y="8631725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Worker YouTube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Job asynchrone de vérification périodique des statuts des vidéos uploadées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9029700" y="2495550"/>
            <a:ext cx="8305800" cy="2428875"/>
          </a:xfrm>
          <a:prstGeom prst="roundRect">
            <a:avLst>
              <a:gd fmla="val 7843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9448800" y="2914650"/>
            <a:ext cx="8214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STACK BACK-END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448800" y="3419475"/>
            <a:ext cx="1210866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"/>
          <p:cNvSpPr/>
          <p:nvPr/>
        </p:nvSpPr>
        <p:spPr>
          <a:xfrm>
            <a:off x="9629775" y="3524250"/>
            <a:ext cx="9251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10773966" y="3419475"/>
            <a:ext cx="1503462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10954941" y="3524250"/>
            <a:ext cx="12177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Express.js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12391727" y="3419475"/>
            <a:ext cx="2298353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12572702" y="3524250"/>
            <a:ext cx="201260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MariaDB · mysql2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4804380" y="3419475"/>
            <a:ext cx="1150441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14985355" y="3524250"/>
            <a:ext cx="8646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9448800" y="4019550"/>
            <a:ext cx="2405063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9629775" y="4124325"/>
            <a:ext cx="211931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JSON Web Tokens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1968163" y="4019550"/>
            <a:ext cx="1090017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12149137" y="4124325"/>
            <a:ext cx="80426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bcrypt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DONNÉES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 de Données — MariaDB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952500" y="2495550"/>
            <a:ext cx="5308550" cy="2286000"/>
          </a:xfrm>
          <a:prstGeom prst="roundRect">
            <a:avLst>
              <a:gd fmla="val 5833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952500" y="2495550"/>
            <a:ext cx="381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/>
          <p:nvPr/>
        </p:nvSpPr>
        <p:spPr>
          <a:xfrm>
            <a:off x="1295400" y="2800350"/>
            <a:ext cx="51269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admins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1295400" y="3276600"/>
            <a:ext cx="480067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Comptes administrateurs — hachage bcrypt, rôles (admin / super_admin)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489650" y="2495550"/>
            <a:ext cx="5308550" cy="2286000"/>
          </a:xfrm>
          <a:prstGeom prst="roundRect">
            <a:avLst>
              <a:gd fmla="val 5833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6489650" y="2495550"/>
            <a:ext cx="381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6832550" y="2800350"/>
            <a:ext cx="51269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movies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832550" y="3276600"/>
            <a:ext cx="480067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Films soumis — titre, durée, statut, flag sélection/réserve/rejet, timestamps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12026801" y="2495550"/>
            <a:ext cx="5308550" cy="2286000"/>
          </a:xfrm>
          <a:prstGeom prst="roundRect">
            <a:avLst>
              <a:gd fmla="val 5833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12026801" y="2495550"/>
            <a:ext cx="381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12369701" y="2800350"/>
            <a:ext cx="51269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filmmakers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2369701" y="3276600"/>
            <a:ext cx="480067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Réalisateurs — prénom, nom, email, hachage mot de passe, rôle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497938" y="5238750"/>
            <a:ext cx="5308500" cy="2667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952500" y="5010150"/>
            <a:ext cx="38100" cy="2667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6840838" y="5543550"/>
            <a:ext cx="512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admin_movie_assignment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6840838" y="6019800"/>
            <a:ext cx="480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Table de liaison — affectation des films aux jurés, notation sur 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SERVICES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Gestion des Médias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952500" y="2495550"/>
            <a:ext cx="8058150" cy="3135511"/>
          </a:xfrm>
          <a:prstGeom prst="roundRect">
            <a:avLst>
              <a:gd fmla="val 486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1333500" y="2876550"/>
            <a:ext cx="80257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Scaleway S3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1333500" y="3543300"/>
            <a:ext cx="7515035" cy="1744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Stockage objet compatible API Amazon S3. Les films soumis et leurs assets sont stockés sur ce service cloud pour garantir la scalabilité et soulager la bande passante du serveur.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9277350" y="2495550"/>
            <a:ext cx="8058150" cy="3135511"/>
          </a:xfrm>
          <a:prstGeom prst="roundRect">
            <a:avLst>
              <a:gd fmla="val 486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9658350" y="2876550"/>
            <a:ext cx="80257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YouTube API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9658350" y="3543300"/>
            <a:ext cx="7515035" cy="1744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Worker asynchrone qui interroge périodiquement l'API YouTube pour vérifier si les vidéos uploadées sont disponibles et met à jour le statut dans la base de données.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952500" y="5897761"/>
            <a:ext cx="8058150" cy="3135511"/>
          </a:xfrm>
          <a:prstGeom prst="roundRect">
            <a:avLst>
              <a:gd fmla="val 486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1333500" y="6278761"/>
            <a:ext cx="80257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Sanity CMS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1333500" y="6945511"/>
            <a:ext cx="7515035" cy="1744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CMS headless qui permet à l'équipe non-technique de modifier le contenu du site (textes, images, jury, partenaires) sans toucher au code.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9277350" y="5897761"/>
            <a:ext cx="8058150" cy="3135511"/>
          </a:xfrm>
          <a:prstGeom prst="roundRect">
            <a:avLst>
              <a:gd fmla="val 486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9658350" y="6278761"/>
            <a:ext cx="80257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Brevo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9658350" y="6945511"/>
            <a:ext cx="7515035" cy="1744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Service d'emails. Confirmations de soumission, gestion de la newsletter du festival. Expose une API REST simple avec un serveur SMTP.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SÉCURITÉ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Sécurité — Authentification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952500" y="26193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1219200" y="2495550"/>
            <a:ext cx="741692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JWT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Token signé avec expiration, stocké dans un cookie HTTP-Only</a:t>
            </a:r>
            <a:r>
              <a:rPr lang="en-US" sz="2550">
                <a:solidFill>
                  <a:srgbClr val="0F172A"/>
                </a:solidFill>
              </a:rPr>
              <a:t>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952500" y="38876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1219200" y="3763850"/>
            <a:ext cx="74169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bcrypt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Hachage des mots de passe avec comparaison sécurisée à la connexion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952500" y="51354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1219200" y="5011625"/>
            <a:ext cx="74169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Cookies HTTP-Only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Vecteur de transmission du token qui élimine le risque de vol via XSS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952500" y="63832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1219200" y="6259400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Protection CSRF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SameSite: strict sur les cookies, maxAge 24h, rôle vérifié à chaque requête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/>
          <p:nvPr/>
        </p:nvSpPr>
        <p:spPr>
          <a:xfrm>
            <a:off x="9029700" y="2495550"/>
            <a:ext cx="8305800" cy="5038725"/>
          </a:xfrm>
          <a:prstGeom prst="roundRect">
            <a:avLst>
              <a:gd fmla="val 3781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9448800" y="2914650"/>
            <a:ext cx="8214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FLUX D'AUTHENTIFICATION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9448800" y="3419475"/>
            <a:ext cx="7467600" cy="647700"/>
          </a:xfrm>
          <a:prstGeom prst="roundRect">
            <a:avLst>
              <a:gd fmla="val 1470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9639300" y="357187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9601200" y="3571875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0134600" y="3576638"/>
            <a:ext cx="59975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Connexion — email + mot de passe envoyés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9448800" y="4219575"/>
            <a:ext cx="7467600" cy="647700"/>
          </a:xfrm>
          <a:prstGeom prst="roundRect">
            <a:avLst>
              <a:gd fmla="val 1470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9639300" y="437197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9601200" y="4371975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10134600" y="4376738"/>
            <a:ext cx="587132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Vérification bcrypt.compare() côté serveur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9448800" y="5019675"/>
            <a:ext cx="7467600" cy="971550"/>
          </a:xfrm>
          <a:prstGeom prst="roundRect">
            <a:avLst>
              <a:gd fmla="val 980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9639300" y="53340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9601200" y="5334000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10134600" y="5172075"/>
            <a:ext cx="6789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Génération JWT signé — stocké en cookie </a:t>
            </a:r>
            <a:r>
              <a:rPr lang="en-US" sz="2100">
                <a:solidFill>
                  <a:srgbClr val="F1F5F9"/>
                </a:solidFill>
              </a:rPr>
              <a:t>HTTP-Only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9448800" y="6143625"/>
            <a:ext cx="7467600" cy="971550"/>
          </a:xfrm>
          <a:prstGeom prst="roundRect">
            <a:avLst>
              <a:gd fmla="val 980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9639300" y="645795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9601200" y="6457950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0134600" y="6296025"/>
            <a:ext cx="6789039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Middleware vérifie le token à chaque requête protégée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SÉCURITÉ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Sécurité — Protections Serveur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952500" y="2495550"/>
            <a:ext cx="5308550" cy="2314575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1257300" y="2800350"/>
            <a:ext cx="516884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Helmet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1257300" y="330517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Configure automatiquement les headers HTTP de sécurité : CSP, X-Frame-Options, HSTS, etc.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6489650" y="2495550"/>
            <a:ext cx="5308550" cy="2314575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6794450" y="2800350"/>
            <a:ext cx="516884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6794450" y="330517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Contrôle strict des origines autorisées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seul le front-end React peut accéder à l'API.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2026801" y="2495550"/>
            <a:ext cx="5308550" cy="2314575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12331601" y="2800350"/>
            <a:ext cx="516884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Rate Limiting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12331601" y="330517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Limite 60 req/15 min globale, 5 tentatives/15 min sur login, 5/h sur soumission de films.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4457750" y="4987250"/>
            <a:ext cx="5308500" cy="2314500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4762550" y="5292050"/>
            <a:ext cx="5168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Validation des entrées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4762550" y="5796875"/>
            <a:ext cx="4839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Tous les formulaires validés côté client ET serveur avant tout traitement ou insertion en BDD.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9994901" y="4987250"/>
            <a:ext cx="5308500" cy="2314500"/>
          </a:xfrm>
          <a:prstGeom prst="roundRect">
            <a:avLst>
              <a:gd fmla="val 5761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10299701" y="5292050"/>
            <a:ext cx="5168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SQL paramétré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10299701" y="5796875"/>
            <a:ext cx="4839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Toutes les requêtes utilisent des placeholders </a:t>
            </a:r>
            <a:r>
              <a:rPr lang="en-US" sz="2100">
                <a:solidFill>
                  <a:srgbClr val="94A3B8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aucune interpolation directe, injection SQL impossible.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FONCTIONNALITÉS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Formulaire Multi-Étapes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952500" y="4533007"/>
            <a:ext cx="2874318" cy="2363986"/>
          </a:xfrm>
          <a:prstGeom prst="roundRect">
            <a:avLst>
              <a:gd fmla="val 564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"/>
          <p:cNvSpPr/>
          <p:nvPr/>
        </p:nvSpPr>
        <p:spPr>
          <a:xfrm>
            <a:off x="2141934" y="4837807"/>
            <a:ext cx="495300" cy="495300"/>
          </a:xfrm>
          <a:prstGeom prst="ellipse">
            <a:avLst/>
          </a:prstGeom>
          <a:solidFill>
            <a:srgbClr val="FFFFFF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2103834" y="4837807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1410757" y="5447407"/>
            <a:ext cx="19576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Réalisateur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1219200" y="5952232"/>
            <a:ext cx="2340918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Prénom, nom, email, pays, biographie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3941118" y="5543550"/>
            <a:ext cx="3028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4309914" y="4373017"/>
            <a:ext cx="2874466" cy="2683966"/>
          </a:xfrm>
          <a:prstGeom prst="roundRect">
            <a:avLst>
              <a:gd fmla="val 4968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8"/>
          <p:cNvSpPr/>
          <p:nvPr/>
        </p:nvSpPr>
        <p:spPr>
          <a:xfrm>
            <a:off x="5499497" y="4677817"/>
            <a:ext cx="495300" cy="4953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5461397" y="4677817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5378351" y="5287417"/>
            <a:ext cx="73744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Film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4576614" y="5792242"/>
            <a:ext cx="2341066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Titre, durée, synopsis, genre, langue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7298680" y="5543550"/>
            <a:ext cx="3028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7667476" y="4373017"/>
            <a:ext cx="2874466" cy="2683966"/>
          </a:xfrm>
          <a:prstGeom prst="roundRect">
            <a:avLst>
              <a:gd fmla="val 4968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8"/>
          <p:cNvSpPr/>
          <p:nvPr/>
        </p:nvSpPr>
        <p:spPr>
          <a:xfrm>
            <a:off x="8857059" y="4677817"/>
            <a:ext cx="495300" cy="4953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8"/>
          <p:cNvSpPr/>
          <p:nvPr/>
        </p:nvSpPr>
        <p:spPr>
          <a:xfrm>
            <a:off x="8818959" y="4677817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7878842" y="5287417"/>
            <a:ext cx="245173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Assets &amp; Tags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7934176" y="5792242"/>
            <a:ext cx="2341066" cy="998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Affiche, bande annonce, tags thématiques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10656243" y="5543550"/>
            <a:ext cx="3028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11025039" y="4533007"/>
            <a:ext cx="2952899" cy="2363986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12253764" y="4837807"/>
            <a:ext cx="495300" cy="4953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12215664" y="4837807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11212674" y="5447407"/>
            <a:ext cx="257762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Collaborateurs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11291739" y="5952232"/>
            <a:ext cx="241949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Membres de l'équipe de production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14092238" y="5543550"/>
            <a:ext cx="30280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14461034" y="4533007"/>
            <a:ext cx="2874466" cy="2363986"/>
          </a:xfrm>
          <a:prstGeom prst="roundRect">
            <a:avLst>
              <a:gd fmla="val 564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15650617" y="4837807"/>
            <a:ext cx="495300" cy="4953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15612517" y="4837807"/>
            <a:ext cx="571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14674691" y="5447407"/>
            <a:ext cx="244715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Déclaration IA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14727734" y="5952232"/>
            <a:ext cx="2341066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Utilisation déclarée de l'IA dans le film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952500" y="9239250"/>
            <a:ext cx="18021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Chaque étape est un composant indépendant géré par un stepper central — validation côté client ET serveur à chaque étape.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FONCTIONNALITÉS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Système de Phases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952500" y="2495550"/>
            <a:ext cx="4937968" cy="6467475"/>
          </a:xfrm>
          <a:prstGeom prst="roundRect">
            <a:avLst>
              <a:gd fmla="val 3086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9"/>
          <p:cNvSpPr/>
          <p:nvPr/>
        </p:nvSpPr>
        <p:spPr>
          <a:xfrm>
            <a:off x="1409700" y="2952750"/>
            <a:ext cx="4425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9"/>
          <p:cNvSpPr/>
          <p:nvPr/>
        </p:nvSpPr>
        <p:spPr>
          <a:xfrm>
            <a:off x="1409700" y="3419475"/>
            <a:ext cx="44259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FFFFF"/>
                </a:solidFill>
              </a:rPr>
              <a:t>Soumission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9"/>
          <p:cNvSpPr/>
          <p:nvPr/>
        </p:nvSpPr>
        <p:spPr>
          <a:xfrm>
            <a:off x="1409700" y="4124325"/>
            <a:ext cx="381000" cy="285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1409700" y="4343400"/>
            <a:ext cx="4144200" cy="20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 site est en ligne,</a:t>
            </a:r>
            <a:r>
              <a:rPr lang="en-US" sz="2100">
                <a:solidFill>
                  <a:srgbClr val="94A3B8"/>
                </a:solidFill>
              </a:rPr>
              <a:t> et les utilisateurs peuvent soumettre les vidéos s’inscrire à la </a:t>
            </a:r>
            <a:r>
              <a:rPr lang="en-US" sz="2100">
                <a:solidFill>
                  <a:srgbClr val="94A3B8"/>
                </a:solidFill>
              </a:rPr>
              <a:t>Newsletter</a:t>
            </a:r>
            <a:r>
              <a:rPr lang="en-US" sz="2100">
                <a:solidFill>
                  <a:srgbClr val="94A3B8"/>
                </a:solidFill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9"/>
          <p:cNvSpPr/>
          <p:nvPr/>
        </p:nvSpPr>
        <p:spPr>
          <a:xfrm>
            <a:off x="6119068" y="2495550"/>
            <a:ext cx="403473" cy="650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6674941" y="2495550"/>
            <a:ext cx="4938117" cy="6467475"/>
          </a:xfrm>
          <a:prstGeom prst="roundRect">
            <a:avLst>
              <a:gd fmla="val 308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9"/>
          <p:cNvSpPr/>
          <p:nvPr/>
        </p:nvSpPr>
        <p:spPr>
          <a:xfrm>
            <a:off x="7132141" y="2952750"/>
            <a:ext cx="44260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7132141" y="3419475"/>
            <a:ext cx="442608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FFFFFF"/>
                </a:solidFill>
              </a:rPr>
              <a:t>Evaluation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7132141" y="4124325"/>
            <a:ext cx="381000" cy="28575"/>
          </a:xfrm>
          <a:prstGeom prst="roundRect">
            <a:avLst>
              <a:gd fmla="val 50000" name="adj"/>
            </a:avLst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9"/>
          <p:cNvSpPr/>
          <p:nvPr/>
        </p:nvSpPr>
        <p:spPr>
          <a:xfrm>
            <a:off x="7132141" y="4343400"/>
            <a:ext cx="4144429" cy="21715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</a:rPr>
              <a:t>Durant cette phase, le formulaire de soumission est bloqué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Et les Admins se partagent les vidéos soumis pour les </a:t>
            </a:r>
            <a:r>
              <a:rPr lang="en-US" sz="2100">
                <a:solidFill>
                  <a:srgbClr val="FFFFFF"/>
                </a:solidFill>
              </a:rPr>
              <a:t>évaluer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9"/>
          <p:cNvSpPr/>
          <p:nvPr/>
        </p:nvSpPr>
        <p:spPr>
          <a:xfrm>
            <a:off x="11841659" y="2495550"/>
            <a:ext cx="403473" cy="650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9"/>
          <p:cNvSpPr/>
          <p:nvPr/>
        </p:nvSpPr>
        <p:spPr>
          <a:xfrm>
            <a:off x="12397532" y="2495550"/>
            <a:ext cx="4937968" cy="6467475"/>
          </a:xfrm>
          <a:prstGeom prst="roundRect">
            <a:avLst>
              <a:gd fmla="val 3086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9"/>
          <p:cNvSpPr/>
          <p:nvPr/>
        </p:nvSpPr>
        <p:spPr>
          <a:xfrm>
            <a:off x="12854732" y="2952750"/>
            <a:ext cx="4425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9"/>
          <p:cNvSpPr/>
          <p:nvPr/>
        </p:nvSpPr>
        <p:spPr>
          <a:xfrm>
            <a:off x="12854732" y="3419475"/>
            <a:ext cx="44259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Festival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9"/>
          <p:cNvSpPr/>
          <p:nvPr/>
        </p:nvSpPr>
        <p:spPr>
          <a:xfrm>
            <a:off x="12854732" y="4124325"/>
            <a:ext cx="381000" cy="28575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12854725" y="4343400"/>
            <a:ext cx="41442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5A6A85"/>
                </a:solidFill>
              </a:rPr>
              <a:t>Pendant cette phase, les admins ne peuvent plus évaluer. Et c’est le jour du festival. on presente les gagnants.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9"/>
          <p:cNvSpPr/>
          <p:nvPr/>
        </p:nvSpPr>
        <p:spPr>
          <a:xfrm>
            <a:off x="952500" y="9229725"/>
            <a:ext cx="17335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Comportement piloté par un hook personnalisé </a:t>
            </a:r>
            <a:r>
              <a:rPr b="0" i="0" lang="en-US" sz="1800" u="none" cap="none" strike="noStrike">
                <a:solidFill>
                  <a:srgbClr val="1D4ED8"/>
                </a:solidFill>
                <a:highlight>
                  <a:srgbClr val="DBEAFE"/>
                </a:highlight>
                <a:latin typeface="Courier New"/>
                <a:ea typeface="Courier New"/>
                <a:cs typeface="Courier New"/>
                <a:sym typeface="Courier New"/>
              </a:rPr>
              <a:t>useFestivalPhase </a:t>
            </a: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— interroge le back-end pour récupérer la phase active.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0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ORGANISATION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0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Méthodologie Agile &amp; Git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952500" y="2495550"/>
            <a:ext cx="867537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Méthode Agile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952500" y="33147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"/>
          <p:cNvSpPr/>
          <p:nvPr/>
        </p:nvSpPr>
        <p:spPr>
          <a:xfrm>
            <a:off x="1219200" y="3190875"/>
            <a:ext cx="7848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Stand-ups quotidiens pour synchroniser l'équipe et identifier les blocages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0"/>
          <p:cNvSpPr/>
          <p:nvPr/>
        </p:nvSpPr>
        <p:spPr>
          <a:xfrm>
            <a:off x="952500" y="45529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0"/>
          <p:cNvSpPr/>
          <p:nvPr/>
        </p:nvSpPr>
        <p:spPr>
          <a:xfrm>
            <a:off x="1219200" y="4429125"/>
            <a:ext cx="7848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GitHub Projects </a:t>
            </a:r>
            <a:r>
              <a:rPr lang="en-US" sz="2550">
                <a:solidFill>
                  <a:srgbClr val="5A6A85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Kanban : To Do / In Progress / Review / Done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952500" y="57912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0"/>
          <p:cNvSpPr/>
          <p:nvPr/>
        </p:nvSpPr>
        <p:spPr>
          <a:xfrm>
            <a:off x="1219200" y="5667375"/>
            <a:ext cx="7848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Revues de sprint </a:t>
            </a:r>
            <a:r>
              <a:rPr lang="en-US" sz="2550">
                <a:solidFill>
                  <a:srgbClr val="5A6A85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démo des fonctionnalités terminées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9448800" y="2495550"/>
            <a:ext cx="867537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Gestion des versions Git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9448800" y="33147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0"/>
          <p:cNvSpPr/>
          <p:nvPr/>
        </p:nvSpPr>
        <p:spPr>
          <a:xfrm>
            <a:off x="9715500" y="3190875"/>
            <a:ext cx="7848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main </a:t>
            </a:r>
            <a:r>
              <a:rPr lang="en-US" sz="2550">
                <a:solidFill>
                  <a:srgbClr val="5A6A85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branche de production protégée, </a:t>
            </a:r>
            <a:r>
              <a:rPr b="1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develop </a:t>
            </a:r>
            <a:r>
              <a:rPr lang="en-US" sz="2550">
                <a:solidFill>
                  <a:srgbClr val="5A6A85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branche d'intégration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9448800" y="45720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9715500" y="4448175"/>
            <a:ext cx="7848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Branches dédiées par fonctionnalité </a:t>
            </a:r>
            <a:r>
              <a:rPr b="0" i="0" lang="en-US" sz="2100" u="none" cap="none" strike="noStrike">
                <a:solidFill>
                  <a:srgbClr val="1D4ED8"/>
                </a:solidFill>
                <a:highlight>
                  <a:srgbClr val="DBEAFE"/>
                </a:highlight>
                <a:latin typeface="Courier New"/>
                <a:ea typeface="Courier New"/>
                <a:cs typeface="Courier New"/>
                <a:sym typeface="Courier New"/>
              </a:rPr>
              <a:t>feature/[nom]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9448800" y="58102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0"/>
          <p:cNvSpPr/>
          <p:nvPr/>
        </p:nvSpPr>
        <p:spPr>
          <a:xfrm>
            <a:off x="9715500" y="5686425"/>
            <a:ext cx="7848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Pull Requests soumises en PR, revue obligatoire avant merge sur develop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9448800" y="70485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0"/>
          <p:cNvSpPr/>
          <p:nvPr/>
        </p:nvSpPr>
        <p:spPr>
          <a:xfrm>
            <a:off x="9715500" y="6924675"/>
            <a:ext cx="7848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Conventional Commits — historique lisible et structuré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1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MARSAI · ÉQUIPE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1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Rôle dans l'Équipe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1"/>
          <p:cNvSpPr/>
          <p:nvPr/>
        </p:nvSpPr>
        <p:spPr>
          <a:xfrm>
            <a:off x="2255825" y="2598500"/>
            <a:ext cx="10952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Mes responsabilités </a:t>
            </a:r>
            <a:r>
              <a:rPr b="1" lang="en-US" sz="2550">
                <a:solidFill>
                  <a:srgbClr val="0F172A"/>
                </a:solidFill>
              </a:rPr>
              <a:t>-</a:t>
            </a: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Lead Back-End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2255825" y="34176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1"/>
          <p:cNvSpPr/>
          <p:nvPr/>
        </p:nvSpPr>
        <p:spPr>
          <a:xfrm>
            <a:off x="2522525" y="3293825"/>
            <a:ext cx="99807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Concevoir et implémenter l'architecture du back-end </a:t>
            </a:r>
            <a:r>
              <a:rPr lang="en-US" sz="2550">
                <a:solidFill>
                  <a:srgbClr val="5A6A85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API REST, base de données, services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1"/>
          <p:cNvSpPr/>
          <p:nvPr/>
        </p:nvSpPr>
        <p:spPr>
          <a:xfrm>
            <a:off x="2255825" y="46559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"/>
          <p:cNvSpPr/>
          <p:nvPr/>
        </p:nvSpPr>
        <p:spPr>
          <a:xfrm>
            <a:off x="2522525" y="4532075"/>
            <a:ext cx="9581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Définir les standards de code et les conventions d'équipe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1"/>
          <p:cNvSpPr/>
          <p:nvPr/>
        </p:nvSpPr>
        <p:spPr>
          <a:xfrm>
            <a:off x="2255825" y="54083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2522525" y="5284550"/>
            <a:ext cx="99807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Réviser les Pull Requests des autres membres et coordonner l'intégration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2255825" y="66466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1"/>
          <p:cNvSpPr/>
          <p:nvPr/>
        </p:nvSpPr>
        <p:spPr>
          <a:xfrm>
            <a:off x="2522525" y="6522800"/>
            <a:ext cx="99807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Coordonner l'intégration entre le front-end et le back-end pour l'ensemble de l'équipe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2255825" y="78848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2522525" y="7761050"/>
            <a:ext cx="99807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Contribution partielle au front-end (AT1) en plus de la responsabilité exclusive du back-end (AT2)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2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MARSAI · BILAN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2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Bilan marsAI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952500" y="2495550"/>
            <a:ext cx="5308550" cy="3048000"/>
          </a:xfrm>
          <a:prstGeom prst="roundRect">
            <a:avLst>
              <a:gd fmla="val 437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2"/>
          <p:cNvSpPr/>
          <p:nvPr/>
        </p:nvSpPr>
        <p:spPr>
          <a:xfrm>
            <a:off x="1304925" y="28479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Architecture MVC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1304925" y="3476625"/>
            <a:ext cx="4741811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API REST Express complète, séparation routes / contrôleurs / services, pool de connexions MariaDB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2"/>
          <p:cNvSpPr/>
          <p:nvPr/>
        </p:nvSpPr>
        <p:spPr>
          <a:xfrm>
            <a:off x="6489650" y="2495550"/>
            <a:ext cx="5308550" cy="3048000"/>
          </a:xfrm>
          <a:prstGeom prst="roundRect">
            <a:avLst>
              <a:gd fmla="val 437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6842075" y="2847975"/>
            <a:ext cx="474181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Sécurité multi-couche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2"/>
          <p:cNvSpPr/>
          <p:nvPr/>
        </p:nvSpPr>
        <p:spPr>
          <a:xfrm>
            <a:off x="6842075" y="3990975"/>
            <a:ext cx="474181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JWT, bcrypt, Helmet, CORS, rate-limiting, SQL paramétré</a:t>
            </a:r>
            <a:r>
              <a:rPr lang="en-US" sz="2100">
                <a:solidFill>
                  <a:srgbClr val="94A3B8"/>
                </a:solidFill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2"/>
          <p:cNvSpPr/>
          <p:nvPr/>
        </p:nvSpPr>
        <p:spPr>
          <a:xfrm>
            <a:off x="12026801" y="2495550"/>
            <a:ext cx="5308550" cy="3048000"/>
          </a:xfrm>
          <a:prstGeom prst="roundRect">
            <a:avLst>
              <a:gd fmla="val 437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12379226" y="28479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Gestion des médias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12379226" y="3476625"/>
            <a:ext cx="474181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Intégration Scaleway S3, YouTube API, Sanity CMS, Brevo</a:t>
            </a:r>
            <a:r>
              <a:rPr lang="en-US" sz="2100">
                <a:solidFill>
                  <a:srgbClr val="94A3B8"/>
                </a:solidFill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2"/>
          <p:cNvSpPr/>
          <p:nvPr/>
        </p:nvSpPr>
        <p:spPr>
          <a:xfrm>
            <a:off x="952500" y="57721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2"/>
          <p:cNvSpPr/>
          <p:nvPr/>
        </p:nvSpPr>
        <p:spPr>
          <a:xfrm>
            <a:off x="1304925" y="61245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Travail en équipe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2"/>
          <p:cNvSpPr/>
          <p:nvPr/>
        </p:nvSpPr>
        <p:spPr>
          <a:xfrm>
            <a:off x="1304925" y="6753225"/>
            <a:ext cx="4741811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Lead d'une équipe de 5, revues de code, Agile, GitHub Projects — première expérience en conditions réelles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6489650" y="57721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2"/>
          <p:cNvSpPr/>
          <p:nvPr/>
        </p:nvSpPr>
        <p:spPr>
          <a:xfrm>
            <a:off x="6842075" y="61245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UX complète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6842075" y="6753225"/>
            <a:ext cx="474181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Formulaire multi-étapes, système de phases dynamique, internationalisation </a:t>
            </a:r>
            <a:r>
              <a:rPr lang="en-US" sz="2100">
                <a:solidFill>
                  <a:srgbClr val="94A3B8"/>
                </a:solidFill>
              </a:rPr>
              <a:t>2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langues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2"/>
          <p:cNvSpPr/>
          <p:nvPr/>
        </p:nvSpPr>
        <p:spPr>
          <a:xfrm>
            <a:off x="12026801" y="57721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2563EB">
              <a:alpha val="20000"/>
            </a:srgbClr>
          </a:solidFill>
          <a:ln cap="flat" cmpd="sng" w="9525">
            <a:solidFill>
              <a:srgbClr val="93C5F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13929070" y="6372225"/>
            <a:ext cx="150401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2"/>
          <p:cNvSpPr/>
          <p:nvPr/>
        </p:nvSpPr>
        <p:spPr>
          <a:xfrm>
            <a:off x="13929070" y="7134225"/>
            <a:ext cx="15040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2"/>
          <p:cNvSpPr/>
          <p:nvPr/>
        </p:nvSpPr>
        <p:spPr>
          <a:xfrm>
            <a:off x="13929070" y="7419975"/>
            <a:ext cx="150401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"/>
          <p:cNvSpPr/>
          <p:nvPr/>
        </p:nvSpPr>
        <p:spPr>
          <a:xfrm>
            <a:off x="952500" y="2531864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PROJET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3"/>
          <p:cNvSpPr/>
          <p:nvPr/>
        </p:nvSpPr>
        <p:spPr>
          <a:xfrm>
            <a:off x="952500" y="3074789"/>
            <a:ext cx="18021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0"/>
              <a:buFont typeface="Arial"/>
              <a:buNone/>
            </a:pPr>
            <a:r>
              <a:rPr b="1" i="0" lang="en-US" sz="8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artisan-ai</a:t>
            </a:r>
            <a:endParaRPr b="0" i="0" sz="8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3"/>
          <p:cNvSpPr/>
          <p:nvPr/>
        </p:nvSpPr>
        <p:spPr>
          <a:xfrm>
            <a:off x="952500" y="4370189"/>
            <a:ext cx="6858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3"/>
          <p:cNvSpPr/>
          <p:nvPr/>
        </p:nvSpPr>
        <p:spPr>
          <a:xfrm>
            <a:off x="952500" y="4751189"/>
            <a:ext cx="8044815" cy="2175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Assistant WhatsApp IA pour artisans, développé en solo. Une application SaaS qui répond automatiquement aux messages WhatsApp des clients grâce à l'intelligence artificielle.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3"/>
          <p:cNvSpPr/>
          <p:nvPr/>
        </p:nvSpPr>
        <p:spPr>
          <a:xfrm>
            <a:off x="952500" y="7345561"/>
            <a:ext cx="1521321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"/>
          <p:cNvSpPr/>
          <p:nvPr/>
        </p:nvSpPr>
        <p:spPr>
          <a:xfrm>
            <a:off x="1171575" y="7450336"/>
            <a:ext cx="11593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Next.js 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2664321" y="7345561"/>
            <a:ext cx="1539925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3"/>
          <p:cNvSpPr/>
          <p:nvPr/>
        </p:nvSpPr>
        <p:spPr>
          <a:xfrm>
            <a:off x="2883396" y="7450336"/>
            <a:ext cx="1177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4394746" y="7345561"/>
            <a:ext cx="1085404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3"/>
          <p:cNvSpPr/>
          <p:nvPr/>
        </p:nvSpPr>
        <p:spPr>
          <a:xfrm>
            <a:off x="4613821" y="7450336"/>
            <a:ext cx="72345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Twilio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3"/>
          <p:cNvSpPr/>
          <p:nvPr/>
        </p:nvSpPr>
        <p:spPr>
          <a:xfrm>
            <a:off x="5670649" y="7345561"/>
            <a:ext cx="1502718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3"/>
          <p:cNvSpPr/>
          <p:nvPr/>
        </p:nvSpPr>
        <p:spPr>
          <a:xfrm>
            <a:off x="5889724" y="7450336"/>
            <a:ext cx="114076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Claude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3"/>
          <p:cNvSpPr/>
          <p:nvPr/>
        </p:nvSpPr>
        <p:spPr>
          <a:xfrm>
            <a:off x="7363867" y="7345561"/>
            <a:ext cx="1097459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3"/>
          <p:cNvSpPr/>
          <p:nvPr/>
        </p:nvSpPr>
        <p:spPr>
          <a:xfrm>
            <a:off x="7582942" y="7450336"/>
            <a:ext cx="73550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Stripe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CONTEXTE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/>
          <p:nvPr/>
        </p:nvSpPr>
        <p:spPr>
          <a:xfrm>
            <a:off x="952500" y="1266825"/>
            <a:ext cx="180213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Contexte &amp; Problème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4"/>
          <p:cNvSpPr/>
          <p:nvPr/>
        </p:nvSpPr>
        <p:spPr>
          <a:xfrm>
            <a:off x="952500" y="2495550"/>
            <a:ext cx="7886700" cy="5792391"/>
          </a:xfrm>
          <a:prstGeom prst="roundRect">
            <a:avLst>
              <a:gd fmla="val 263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1371600" y="2914650"/>
            <a:ext cx="7753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1D4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11D48"/>
                </a:solidFill>
                <a:latin typeface="Arial"/>
                <a:ea typeface="Arial"/>
                <a:cs typeface="Arial"/>
                <a:sym typeface="Arial"/>
              </a:rPr>
              <a:t>Le problème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4"/>
          <p:cNvSpPr/>
          <p:nvPr/>
        </p:nvSpPr>
        <p:spPr>
          <a:xfrm>
            <a:off x="1371600" y="3533775"/>
            <a:ext cx="7259955" cy="26284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Les artisans (plombiers, électriciens, menuisiers, peintres…) reçoivent de nombreuses demandes clients via WhatsApp mais n'ont pas toujours le temps d'y répondre immédiatement.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4"/>
          <p:cNvSpPr/>
          <p:nvPr/>
        </p:nvSpPr>
        <p:spPr>
          <a:xfrm>
            <a:off x="1371600" y="6314629"/>
            <a:ext cx="7259955" cy="15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Des réponses tardives signifient des clients perdus. Le temps d'y répondre, le client a déjà contacté un concurrent.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4"/>
          <p:cNvSpPr/>
          <p:nvPr/>
        </p:nvSpPr>
        <p:spPr>
          <a:xfrm>
            <a:off x="9448800" y="2495550"/>
            <a:ext cx="7886700" cy="5665200"/>
          </a:xfrm>
          <a:prstGeom prst="roundRect">
            <a:avLst>
              <a:gd fmla="val 2889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4"/>
          <p:cNvSpPr/>
          <p:nvPr/>
        </p:nvSpPr>
        <p:spPr>
          <a:xfrm>
            <a:off x="9867900" y="2914650"/>
            <a:ext cx="7753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La solution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4"/>
          <p:cNvSpPr/>
          <p:nvPr/>
        </p:nvSpPr>
        <p:spPr>
          <a:xfrm>
            <a:off x="9867900" y="3533775"/>
            <a:ext cx="7259955" cy="2110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artisan-ai fournit un assistant IA capable de répondre automatiquement aux messages WhatsApp des clients, en se faisant passer naturellement pour l'artisan lui-même.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4"/>
          <p:cNvSpPr/>
          <p:nvPr/>
        </p:nvSpPr>
        <p:spPr>
          <a:xfrm>
            <a:off x="9867900" y="5796558"/>
            <a:ext cx="72600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L'artisan garde la main via son tableau de bord pour consulter les conversations et répondre manuellement si nécessaire.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5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FONCTIONNALITÉS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Fonctionnalités Cibles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952500" y="2495550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5"/>
          <p:cNvSpPr/>
          <p:nvPr/>
        </p:nvSpPr>
        <p:spPr>
          <a:xfrm>
            <a:off x="1257300" y="2800350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Profil artisan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1257300" y="3429000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Inscription, connexion, configuration du profil (nom, métier, services, numéro WhatsApp)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/>
          <p:nvPr/>
        </p:nvSpPr>
        <p:spPr>
          <a:xfrm>
            <a:off x="6489650" y="2495550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5"/>
          <p:cNvSpPr/>
          <p:nvPr/>
        </p:nvSpPr>
        <p:spPr>
          <a:xfrm>
            <a:off x="6794450" y="2800350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WhatsApp via Twilio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5"/>
          <p:cNvSpPr/>
          <p:nvPr/>
        </p:nvSpPr>
        <p:spPr>
          <a:xfrm>
            <a:off x="6794450" y="3429000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Réception automatique des messages WhatsApp clients via webhook Twilio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12026801" y="2495550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5"/>
          <p:cNvSpPr/>
          <p:nvPr/>
        </p:nvSpPr>
        <p:spPr>
          <a:xfrm>
            <a:off x="12331601" y="2800350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IA automatique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12331601" y="3429000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Réponse IA (Claude d'Anthropic) basée sur le profil de l'artisan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naturelle et professionnelle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952500" y="5202287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1257300" y="5507087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1257300" y="6135737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Liste des conversations, détail des messages, gestion du profil, suivi des abonnements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6489650" y="5202287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5"/>
          <p:cNvSpPr/>
          <p:nvPr/>
        </p:nvSpPr>
        <p:spPr>
          <a:xfrm>
            <a:off x="6794450" y="5507087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Abonnements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6794450" y="6135737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3 plans tarifaires via Stripe Checkout, gestion automatique du cycle de vie des abonnements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12026801" y="5202287"/>
            <a:ext cx="5308550" cy="2478137"/>
          </a:xfrm>
          <a:prstGeom prst="roundRect">
            <a:avLst>
              <a:gd fmla="val 538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5"/>
          <p:cNvSpPr/>
          <p:nvPr/>
        </p:nvSpPr>
        <p:spPr>
          <a:xfrm>
            <a:off x="12331601" y="5507087"/>
            <a:ext cx="516884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12331601" y="6135737"/>
            <a:ext cx="4839919" cy="1277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Alertes pour les nouveaux messages clients, réponse manuelle possible depuis le dashboard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6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Architecture Next.js 14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/>
          <p:nvPr/>
        </p:nvSpPr>
        <p:spPr>
          <a:xfrm>
            <a:off x="952500" y="2495550"/>
            <a:ext cx="4705350" cy="7029450"/>
          </a:xfrm>
          <a:prstGeom prst="roundRect">
            <a:avLst>
              <a:gd fmla="val 2834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6"/>
          <p:cNvSpPr/>
          <p:nvPr/>
        </p:nvSpPr>
        <p:spPr>
          <a:xfrm>
            <a:off x="1295400" y="2838450"/>
            <a:ext cx="44215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COUCHE 1 · FRONT-END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1295400" y="3267075"/>
            <a:ext cx="442150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Next.js 14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1295400" y="3971925"/>
            <a:ext cx="414013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App Router (Server Components)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1295400" y="4733925"/>
            <a:ext cx="44215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shadcn/ui + Tailwind CSS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1295400" y="5162550"/>
            <a:ext cx="44215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· TypeScript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5924550" y="2495550"/>
            <a:ext cx="676275" cy="706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⟷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/>
          <p:nvPr/>
        </p:nvSpPr>
        <p:spPr>
          <a:xfrm>
            <a:off x="6791325" y="2495550"/>
            <a:ext cx="4705350" cy="7029450"/>
          </a:xfrm>
          <a:prstGeom prst="roundRect">
            <a:avLst>
              <a:gd fmla="val 2834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7134225" y="2838450"/>
            <a:ext cx="44215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COUCHE 2 · BDD &amp; AUTH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/>
          <p:nvPr/>
        </p:nvSpPr>
        <p:spPr>
          <a:xfrm>
            <a:off x="7134225" y="3267075"/>
            <a:ext cx="442150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6"/>
          <p:cNvSpPr/>
          <p:nvPr/>
        </p:nvSpPr>
        <p:spPr>
          <a:xfrm>
            <a:off x="7134225" y="3971925"/>
            <a:ext cx="4140136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PostgreSQL + Auth (Email/OAuth)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7134225" y="4733925"/>
            <a:ext cx="44215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Row Level Security (RLS)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7134225" y="5162550"/>
            <a:ext cx="41400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6"/>
          <p:cNvSpPr/>
          <p:nvPr/>
        </p:nvSpPr>
        <p:spPr>
          <a:xfrm>
            <a:off x="7134225" y="5238750"/>
            <a:ext cx="44214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Next.js Middleware protection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11763375" y="2495550"/>
            <a:ext cx="676275" cy="7067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⟷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"/>
          <p:cNvSpPr/>
          <p:nvPr/>
        </p:nvSpPr>
        <p:spPr>
          <a:xfrm>
            <a:off x="12630150" y="2495550"/>
            <a:ext cx="4705200" cy="7029600"/>
          </a:xfrm>
          <a:prstGeom prst="roundRect">
            <a:avLst>
              <a:gd fmla="val 2834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12630150" y="2495550"/>
            <a:ext cx="4705350" cy="381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6"/>
          <p:cNvSpPr/>
          <p:nvPr/>
        </p:nvSpPr>
        <p:spPr>
          <a:xfrm>
            <a:off x="12973050" y="2876550"/>
            <a:ext cx="442150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COUCHE 3 · SERVICES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12973050" y="3305175"/>
            <a:ext cx="442150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Services Tiers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12973050" y="4010025"/>
            <a:ext cx="44215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Twilio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WhatsApp webhook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12973050" y="4438650"/>
            <a:ext cx="44215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Claude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réponses 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12973050" y="4867275"/>
            <a:ext cx="442150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Stripe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abonnements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7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COMPÉTENCES · AT1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AT1 — Développement Front-End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952500" y="26193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7"/>
          <p:cNvSpPr/>
          <p:nvPr/>
        </p:nvSpPr>
        <p:spPr>
          <a:xfrm>
            <a:off x="1219200" y="2495550"/>
            <a:ext cx="741692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Composants réutilisables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Architecture modulaire en React, composants indépendants avec props typées (TypeScript)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7"/>
          <p:cNvSpPr/>
          <p:nvPr/>
        </p:nvSpPr>
        <p:spPr>
          <a:xfrm>
            <a:off x="952500" y="43529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1219200" y="4229100"/>
            <a:ext cx="741692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Gestion d'état global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Context API sur marsAI, Supabase côté serveur sur artisan-ai (Server Components)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7"/>
          <p:cNvSpPr/>
          <p:nvPr/>
        </p:nvSpPr>
        <p:spPr>
          <a:xfrm>
            <a:off x="952500" y="60864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1219200" y="5962650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Routing &amp; navigation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React Router (marsAI), Next.js App Router avec Server Actions (artisan-ai)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952500" y="74081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1219200" y="7284300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Intégration API REST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Consommation des données exposées par le back-end, gestion des états de chargement et d'erreur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952500" y="91416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1219200" y="9017850"/>
            <a:ext cx="74169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Internationalisation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i18next, </a:t>
            </a:r>
            <a:r>
              <a:rPr lang="en-US" sz="2550">
                <a:solidFill>
                  <a:srgbClr val="0F172A"/>
                </a:solidFill>
              </a:rPr>
              <a:t>2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langues, détection automatique et sélection manuelle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9029700" y="2495550"/>
            <a:ext cx="8305800" cy="2390775"/>
          </a:xfrm>
          <a:prstGeom prst="roundRect">
            <a:avLst>
              <a:gd fmla="val 7968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7"/>
          <p:cNvSpPr/>
          <p:nvPr/>
        </p:nvSpPr>
        <p:spPr>
          <a:xfrm>
            <a:off x="9448800" y="2914650"/>
            <a:ext cx="8214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TECHNOLOGIES MAÎTRISÉES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9448800" y="3381375"/>
            <a:ext cx="1291233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9629775" y="3486150"/>
            <a:ext cx="100548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React 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10854333" y="3381375"/>
            <a:ext cx="1445121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11035308" y="3486150"/>
            <a:ext cx="115937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Next.js 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12413754" y="3381375"/>
            <a:ext cx="1568202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12594729" y="3486150"/>
            <a:ext cx="12824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14096256" y="3381375"/>
            <a:ext cx="1804690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14277231" y="3486150"/>
            <a:ext cx="151894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Tailwind CSS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9448800" y="3981450"/>
            <a:ext cx="1460897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9629775" y="4086225"/>
            <a:ext cx="11751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shadcn/ui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11023997" y="3981450"/>
            <a:ext cx="1149548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11204972" y="4086225"/>
            <a:ext cx="8637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i18next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8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COMPÉTENCES · AT2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AT2 — Développement Back-End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952500" y="26193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8"/>
          <p:cNvSpPr/>
          <p:nvPr/>
        </p:nvSpPr>
        <p:spPr>
          <a:xfrm>
            <a:off x="1219200" y="2495550"/>
            <a:ext cx="741692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API REST complète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Express.js (marsAI) et Next.js App Router avec Server Actions (artisan-ai)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952500" y="39909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1219200" y="3867150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Bases de données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MariaDB (SQL paramétré, pool de connexions), PostgreSQL via Supabase (RLS)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8"/>
          <p:cNvSpPr/>
          <p:nvPr/>
        </p:nvSpPr>
        <p:spPr>
          <a:xfrm>
            <a:off x="952500" y="57245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/>
          <p:nvPr/>
        </p:nvSpPr>
        <p:spPr>
          <a:xfrm>
            <a:off x="1219200" y="5600700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Authentification JWT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Génération, stockage HTTP-Only, middleware de vérification à chaque requête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952500" y="74580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8"/>
          <p:cNvSpPr/>
          <p:nvPr/>
        </p:nvSpPr>
        <p:spPr>
          <a:xfrm>
            <a:off x="1219200" y="7334250"/>
            <a:ext cx="74169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Services tiers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Intégration S3, CMS, IA, email, paiement (Stripe), WhatsApp (Twilio)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952500" y="87058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8"/>
          <p:cNvSpPr/>
          <p:nvPr/>
        </p:nvSpPr>
        <p:spPr>
          <a:xfrm>
            <a:off x="1219200" y="8582025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Docker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Conteneurisation MariaDB pour reproductibilité de l'environnement de développement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9029700" y="2495550"/>
            <a:ext cx="8305800" cy="2390775"/>
          </a:xfrm>
          <a:prstGeom prst="roundRect">
            <a:avLst>
              <a:gd fmla="val 7968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8"/>
          <p:cNvSpPr/>
          <p:nvPr/>
        </p:nvSpPr>
        <p:spPr>
          <a:xfrm>
            <a:off x="9448800" y="2914650"/>
            <a:ext cx="8214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TECHNOLOGIES MAÎTRISÉES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8"/>
          <p:cNvSpPr/>
          <p:nvPr/>
        </p:nvSpPr>
        <p:spPr>
          <a:xfrm>
            <a:off x="9448800" y="3381375"/>
            <a:ext cx="1210866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8"/>
          <p:cNvSpPr/>
          <p:nvPr/>
        </p:nvSpPr>
        <p:spPr>
          <a:xfrm>
            <a:off x="9629775" y="3486150"/>
            <a:ext cx="9251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Node.js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8"/>
          <p:cNvSpPr/>
          <p:nvPr/>
        </p:nvSpPr>
        <p:spPr>
          <a:xfrm>
            <a:off x="10773966" y="3381375"/>
            <a:ext cx="1503462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8"/>
          <p:cNvSpPr/>
          <p:nvPr/>
        </p:nvSpPr>
        <p:spPr>
          <a:xfrm>
            <a:off x="10954941" y="3486150"/>
            <a:ext cx="121771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Express.js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12391727" y="3381375"/>
            <a:ext cx="1303139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8"/>
          <p:cNvSpPr/>
          <p:nvPr/>
        </p:nvSpPr>
        <p:spPr>
          <a:xfrm>
            <a:off x="12572702" y="3486150"/>
            <a:ext cx="101738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8"/>
          <p:cNvSpPr/>
          <p:nvPr/>
        </p:nvSpPr>
        <p:spPr>
          <a:xfrm>
            <a:off x="13809166" y="3381375"/>
            <a:ext cx="1669554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8"/>
          <p:cNvSpPr/>
          <p:nvPr/>
        </p:nvSpPr>
        <p:spPr>
          <a:xfrm>
            <a:off x="13990141" y="3486150"/>
            <a:ext cx="138380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8"/>
          <p:cNvSpPr/>
          <p:nvPr/>
        </p:nvSpPr>
        <p:spPr>
          <a:xfrm>
            <a:off x="15593020" y="3381375"/>
            <a:ext cx="1150441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15773995" y="3486150"/>
            <a:ext cx="8646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/>
          <p:nvPr/>
        </p:nvSpPr>
        <p:spPr>
          <a:xfrm>
            <a:off x="9448800" y="3981450"/>
            <a:ext cx="1463725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30196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8"/>
          <p:cNvSpPr/>
          <p:nvPr/>
        </p:nvSpPr>
        <p:spPr>
          <a:xfrm>
            <a:off x="9629775" y="4086225"/>
            <a:ext cx="11779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9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INTELLIGENCE ARTIFICIELLE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Intelligence Artificielle — Claude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952500" y="261937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>
            <a:off x="1219200" y="2495550"/>
            <a:ext cx="741692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Claude Sonnet (Anthropic)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Modèle de langage avancé qui génère les réponses automatiques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952500" y="3834488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9"/>
          <p:cNvSpPr/>
          <p:nvPr/>
        </p:nvSpPr>
        <p:spPr>
          <a:xfrm>
            <a:off x="1219200" y="3710663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Personnalisation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Le modèle est instruit pour répondre naturellement sans se présenter comme une IA, dans le style de l'artisan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952500" y="5568038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9"/>
          <p:cNvSpPr/>
          <p:nvPr/>
        </p:nvSpPr>
        <p:spPr>
          <a:xfrm>
            <a:off x="1219200" y="5444213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Profil injecté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Le profil complet de l'artisan (métier, services, bio) est inclus dans le contexte de chaque appel API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952500" y="7301588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"/>
          <p:cNvSpPr/>
          <p:nvPr/>
        </p:nvSpPr>
        <p:spPr>
          <a:xfrm>
            <a:off x="1219200" y="7177763"/>
            <a:ext cx="74169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shadcn/ui 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— L'interface utilise des composants React accessibles et personnalisables (Radix UI + Tailwind)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9029700" y="2495550"/>
            <a:ext cx="8305800" cy="4284018"/>
          </a:xfrm>
          <a:prstGeom prst="roundRect">
            <a:avLst>
              <a:gd fmla="val 4447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9448800" y="2914650"/>
            <a:ext cx="82143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EXEMPLE DE SYSTEM PROMPT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9"/>
          <p:cNvSpPr/>
          <p:nvPr/>
        </p:nvSpPr>
        <p:spPr>
          <a:xfrm>
            <a:off x="9448800" y="3419475"/>
            <a:ext cx="7467600" cy="2346722"/>
          </a:xfrm>
          <a:prstGeom prst="roundRect">
            <a:avLst>
              <a:gd fmla="val 4059" name="adj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9"/>
          <p:cNvSpPr/>
          <p:nvPr/>
        </p:nvSpPr>
        <p:spPr>
          <a:xfrm>
            <a:off x="9448800" y="3419475"/>
            <a:ext cx="28575" cy="234672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9"/>
          <p:cNvSpPr/>
          <p:nvPr/>
        </p:nvSpPr>
        <p:spPr>
          <a:xfrm>
            <a:off x="9744075" y="3686175"/>
            <a:ext cx="7112794" cy="18514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"Tu es l'assistant de [nom], [métier] professionnel. Réponds aux messages comme si tu étais [nom], de manière naturelle et professionnelle. Tes services : [liste]. Ne te présente jamais comme une IA."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9"/>
          <p:cNvSpPr/>
          <p:nvPr/>
        </p:nvSpPr>
        <p:spPr>
          <a:xfrm>
            <a:off x="9448800" y="5994797"/>
            <a:ext cx="8214360" cy="403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La réponse est directement transmise à Twilio pour envoi WhatsApp.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0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INTÉGRATION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Intégration WhatsApp — Twilio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952500" y="4891088"/>
            <a:ext cx="2206675" cy="1685925"/>
          </a:xfrm>
          <a:prstGeom prst="roundRect">
            <a:avLst>
              <a:gd fmla="val 7910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0"/>
          <p:cNvSpPr/>
          <p:nvPr/>
        </p:nvSpPr>
        <p:spPr>
          <a:xfrm>
            <a:off x="1135536" y="5157788"/>
            <a:ext cx="18406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0"/>
          <p:cNvSpPr/>
          <p:nvPr/>
        </p:nvSpPr>
        <p:spPr>
          <a:xfrm>
            <a:off x="1181100" y="5529263"/>
            <a:ext cx="174947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Message WhatsApp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0"/>
          <p:cNvSpPr/>
          <p:nvPr/>
        </p:nvSpPr>
        <p:spPr>
          <a:xfrm>
            <a:off x="3311575" y="5538788"/>
            <a:ext cx="3670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/>
          <p:nvPr/>
        </p:nvSpPr>
        <p:spPr>
          <a:xfrm>
            <a:off x="3754785" y="4576763"/>
            <a:ext cx="2037159" cy="2314575"/>
          </a:xfrm>
          <a:prstGeom prst="roundRect">
            <a:avLst>
              <a:gd fmla="val 6546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0"/>
          <p:cNvSpPr/>
          <p:nvPr/>
        </p:nvSpPr>
        <p:spPr>
          <a:xfrm>
            <a:off x="3946297" y="4843463"/>
            <a:ext cx="165413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TWILIO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0"/>
          <p:cNvSpPr/>
          <p:nvPr/>
        </p:nvSpPr>
        <p:spPr>
          <a:xfrm>
            <a:off x="3983385" y="5214938"/>
            <a:ext cx="1579959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Webhook POST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5944344" y="5538788"/>
            <a:ext cx="3670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6387554" y="4438650"/>
            <a:ext cx="2029123" cy="2590800"/>
          </a:xfrm>
          <a:prstGeom prst="roundRect">
            <a:avLst>
              <a:gd fmla="val 6572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0"/>
          <p:cNvSpPr/>
          <p:nvPr/>
        </p:nvSpPr>
        <p:spPr>
          <a:xfrm>
            <a:off x="6616154" y="4705350"/>
            <a:ext cx="157192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NEXT.JS API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6616154" y="5353050"/>
            <a:ext cx="1571923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Route Handler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8569077" y="5538788"/>
            <a:ext cx="3670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9012287" y="4576763"/>
            <a:ext cx="2286000" cy="2314575"/>
          </a:xfrm>
          <a:prstGeom prst="roundRect">
            <a:avLst>
              <a:gd fmla="val 583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9191357" y="4843463"/>
            <a:ext cx="19278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CLAUDE 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9240887" y="5214938"/>
            <a:ext cx="1828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Génération réponse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11450687" y="5538788"/>
            <a:ext cx="3670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11893897" y="4914900"/>
            <a:ext cx="2816721" cy="1638300"/>
          </a:xfrm>
          <a:prstGeom prst="roundRect">
            <a:avLst>
              <a:gd fmla="val 8140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0"/>
          <p:cNvSpPr/>
          <p:nvPr/>
        </p:nvSpPr>
        <p:spPr>
          <a:xfrm>
            <a:off x="12046431" y="5181600"/>
            <a:ext cx="25116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TWILIO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12046431" y="5553075"/>
            <a:ext cx="251165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twiml(aiReply)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12046431" y="6000750"/>
            <a:ext cx="2511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Envoi WhatsApp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14863018" y="5538788"/>
            <a:ext cx="36701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15306229" y="4891088"/>
            <a:ext cx="2029271" cy="1685925"/>
          </a:xfrm>
          <a:prstGeom prst="roundRect">
            <a:avLst>
              <a:gd fmla="val 7910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0"/>
          <p:cNvSpPr/>
          <p:nvPr/>
        </p:nvSpPr>
        <p:spPr>
          <a:xfrm>
            <a:off x="15498135" y="5157788"/>
            <a:ext cx="164545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15534829" y="5529263"/>
            <a:ext cx="1572071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Réponse reçue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952500" y="9239250"/>
            <a:ext cx="18021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Twilio transmet le message à l'application via une requête HTTP POST signée. La validation HMAC protège contre les fausses requêtes.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1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DONNÉES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Base de Données — PostgreSQL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952500" y="2495550"/>
            <a:ext cx="5308550" cy="2286000"/>
          </a:xfrm>
          <a:prstGeom prst="roundRect">
            <a:avLst>
              <a:gd fmla="val 5833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952500" y="2495550"/>
            <a:ext cx="381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1"/>
          <p:cNvSpPr/>
          <p:nvPr/>
        </p:nvSpPr>
        <p:spPr>
          <a:xfrm>
            <a:off x="1295400" y="2800350"/>
            <a:ext cx="51269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profiles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1"/>
          <p:cNvSpPr/>
          <p:nvPr/>
        </p:nvSpPr>
        <p:spPr>
          <a:xfrm>
            <a:off x="1295400" y="3276600"/>
            <a:ext cx="480067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Profil public de chaque artisan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nom, métier, bio, services, numéro Twilio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6489650" y="2495550"/>
            <a:ext cx="5308550" cy="2286000"/>
          </a:xfrm>
          <a:prstGeom prst="roundRect">
            <a:avLst>
              <a:gd fmla="val 5833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6489650" y="2495550"/>
            <a:ext cx="381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1"/>
          <p:cNvSpPr/>
          <p:nvPr/>
        </p:nvSpPr>
        <p:spPr>
          <a:xfrm>
            <a:off x="6832550" y="2800350"/>
            <a:ext cx="51269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subscriptions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6832550" y="3276600"/>
            <a:ext cx="480067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Abonnements Stripe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plan, statut (active/cancelled/trialing), période de facturation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12026801" y="2495550"/>
            <a:ext cx="5308550" cy="2286000"/>
          </a:xfrm>
          <a:prstGeom prst="roundRect">
            <a:avLst>
              <a:gd fmla="val 5833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1"/>
          <p:cNvSpPr/>
          <p:nvPr/>
        </p:nvSpPr>
        <p:spPr>
          <a:xfrm>
            <a:off x="12026801" y="2495550"/>
            <a:ext cx="38100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12369701" y="2800350"/>
            <a:ext cx="512693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conversations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12369701" y="3276600"/>
            <a:ext cx="480067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Fil de discussion client/artisan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numéro WhatsApp, dernier message, statut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1"/>
          <p:cNvSpPr/>
          <p:nvPr/>
        </p:nvSpPr>
        <p:spPr>
          <a:xfrm>
            <a:off x="3640438" y="5238750"/>
            <a:ext cx="5308500" cy="260040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>
            <a:off x="3640438" y="5238750"/>
            <a:ext cx="38100" cy="2600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1"/>
          <p:cNvSpPr/>
          <p:nvPr/>
        </p:nvSpPr>
        <p:spPr>
          <a:xfrm>
            <a:off x="3983338" y="5543550"/>
            <a:ext cx="512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messages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3983338" y="6019800"/>
            <a:ext cx="48006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Messages individuels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contenu, type (client/ai/artisan), identifiant Twilio, timestamp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/>
          <p:nvPr/>
        </p:nvSpPr>
        <p:spPr>
          <a:xfrm>
            <a:off x="9177588" y="5238750"/>
            <a:ext cx="5308500" cy="2600400"/>
          </a:xfrm>
          <a:prstGeom prst="roundRect">
            <a:avLst>
              <a:gd fmla="val 5128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9177588" y="5238750"/>
            <a:ext cx="38100" cy="2600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1"/>
          <p:cNvSpPr/>
          <p:nvPr/>
        </p:nvSpPr>
        <p:spPr>
          <a:xfrm>
            <a:off x="9520488" y="5543550"/>
            <a:ext cx="512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550"/>
              <a:buFont typeface="Courier New"/>
              <a:buNone/>
            </a:pPr>
            <a:r>
              <a:rPr b="1" i="0" lang="en-US" sz="25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notifications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9520488" y="6019800"/>
            <a:ext cx="4800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Alertes pour l'artisan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nouveau message, conversation en attente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2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MONÉTISATION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Abonnements SaaS — Stripe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952500" y="2495550"/>
            <a:ext cx="5270450" cy="647700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32"/>
          <p:cNvSpPr/>
          <p:nvPr/>
        </p:nvSpPr>
        <p:spPr>
          <a:xfrm>
            <a:off x="1371600" y="2914650"/>
            <a:ext cx="4875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STARTER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2"/>
          <p:cNvSpPr/>
          <p:nvPr/>
        </p:nvSpPr>
        <p:spPr>
          <a:xfrm>
            <a:off x="1371600" y="3343275"/>
            <a:ext cx="832693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2204293" y="3600450"/>
            <a:ext cx="1212056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€/mois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1371600" y="4257675"/>
            <a:ext cx="443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1371600" y="4495800"/>
            <a:ext cx="4875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Profil artisan complet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1371600" y="4924425"/>
            <a:ext cx="4875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Réponses IA illimitées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/>
          <p:nvPr/>
        </p:nvSpPr>
        <p:spPr>
          <a:xfrm>
            <a:off x="1371600" y="5353050"/>
            <a:ext cx="4875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1 numéro WhatsApp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6489650" y="2495550"/>
            <a:ext cx="5308699" cy="6477000"/>
          </a:xfrm>
          <a:prstGeom prst="roundRect">
            <a:avLst>
              <a:gd fmla="val 2871" name="adj"/>
            </a:avLst>
          </a:prstGeom>
          <a:solidFill>
            <a:srgbClr val="0D1B3E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2"/>
          <p:cNvSpPr/>
          <p:nvPr/>
        </p:nvSpPr>
        <p:spPr>
          <a:xfrm>
            <a:off x="6927800" y="2990850"/>
            <a:ext cx="6171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2"/>
          <p:cNvSpPr/>
          <p:nvPr/>
        </p:nvSpPr>
        <p:spPr>
          <a:xfrm>
            <a:off x="9562654" y="2933700"/>
            <a:ext cx="1797546" cy="390525"/>
          </a:xfrm>
          <a:prstGeom prst="roundRect">
            <a:avLst>
              <a:gd fmla="val 14634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"/>
          <p:cNvSpPr/>
          <p:nvPr/>
        </p:nvSpPr>
        <p:spPr>
          <a:xfrm>
            <a:off x="9696004" y="2990850"/>
            <a:ext cx="16070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Recommandé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2"/>
          <p:cNvSpPr/>
          <p:nvPr/>
        </p:nvSpPr>
        <p:spPr>
          <a:xfrm>
            <a:off x="6927800" y="3476625"/>
            <a:ext cx="1002209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2"/>
          <p:cNvSpPr/>
          <p:nvPr/>
        </p:nvSpPr>
        <p:spPr>
          <a:xfrm>
            <a:off x="7930009" y="3733800"/>
            <a:ext cx="1212056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€/mois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2"/>
          <p:cNvSpPr/>
          <p:nvPr/>
        </p:nvSpPr>
        <p:spPr>
          <a:xfrm>
            <a:off x="6927800" y="4391025"/>
            <a:ext cx="4432399" cy="9525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6927800" y="4629150"/>
            <a:ext cx="487563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· Tout Starter inclus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6927800" y="5057775"/>
            <a:ext cx="487563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· Statistiques avancées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2"/>
          <p:cNvSpPr/>
          <p:nvPr/>
        </p:nvSpPr>
        <p:spPr>
          <a:xfrm>
            <a:off x="6927800" y="5486400"/>
            <a:ext cx="487563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· Support prioritaire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2"/>
          <p:cNvSpPr/>
          <p:nvPr/>
        </p:nvSpPr>
        <p:spPr>
          <a:xfrm>
            <a:off x="12065050" y="2495550"/>
            <a:ext cx="5270450" cy="6477000"/>
          </a:xfrm>
          <a:prstGeom prst="roundRect">
            <a:avLst>
              <a:gd fmla="val 289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2"/>
          <p:cNvSpPr/>
          <p:nvPr/>
        </p:nvSpPr>
        <p:spPr>
          <a:xfrm>
            <a:off x="12484150" y="2914650"/>
            <a:ext cx="4875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ÉQUIPE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2"/>
          <p:cNvSpPr/>
          <p:nvPr/>
        </p:nvSpPr>
        <p:spPr>
          <a:xfrm>
            <a:off x="12484150" y="3343275"/>
            <a:ext cx="983754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99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2"/>
          <p:cNvSpPr/>
          <p:nvPr/>
        </p:nvSpPr>
        <p:spPr>
          <a:xfrm>
            <a:off x="13467904" y="3600450"/>
            <a:ext cx="1212056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€/mois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2"/>
          <p:cNvSpPr/>
          <p:nvPr/>
        </p:nvSpPr>
        <p:spPr>
          <a:xfrm>
            <a:off x="12484150" y="4257675"/>
            <a:ext cx="4432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>
            <a:off x="12484150" y="4495800"/>
            <a:ext cx="4875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Tout Pro inclus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2"/>
          <p:cNvSpPr/>
          <p:nvPr/>
        </p:nvSpPr>
        <p:spPr>
          <a:xfrm>
            <a:off x="12484150" y="4924425"/>
            <a:ext cx="4875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Plusieurs numéros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2"/>
          <p:cNvSpPr/>
          <p:nvPr/>
        </p:nvSpPr>
        <p:spPr>
          <a:xfrm>
            <a:off x="12484150" y="5353050"/>
            <a:ext cx="48754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Gestion multi-artisans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3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3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Interface Utilisateur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3"/>
          <p:cNvSpPr/>
          <p:nvPr/>
        </p:nvSpPr>
        <p:spPr>
          <a:xfrm>
            <a:off x="952500" y="26265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3"/>
          <p:cNvSpPr/>
          <p:nvPr/>
        </p:nvSpPr>
        <p:spPr>
          <a:xfrm>
            <a:off x="1219200" y="2502675"/>
            <a:ext cx="78486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Charte graphique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Interface sobre et professionnelle conçue pour les artisans : blanc cassé, bleu/indigo, gris neutres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952500" y="436005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3"/>
          <p:cNvSpPr/>
          <p:nvPr/>
        </p:nvSpPr>
        <p:spPr>
          <a:xfrm>
            <a:off x="1219200" y="4236225"/>
            <a:ext cx="78486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Sidebar responsive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Navigation principale collapsible avec hook usePathname, état persisté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3"/>
          <p:cNvSpPr/>
          <p:nvPr/>
        </p:nvSpPr>
        <p:spPr>
          <a:xfrm>
            <a:off x="952500" y="56078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3"/>
          <p:cNvSpPr/>
          <p:nvPr/>
        </p:nvSpPr>
        <p:spPr>
          <a:xfrm>
            <a:off x="1219200" y="5484000"/>
            <a:ext cx="7848600" cy="15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Accessibilité native </a:t>
            </a:r>
            <a:r>
              <a:rPr lang="en-US" sz="2550">
                <a:solidFill>
                  <a:srgbClr val="0F172A"/>
                </a:solidFill>
              </a:rPr>
              <a:t>-</a:t>
            </a: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Les composants sont accessibles nativement, avec aria-labels et focus visible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4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SÉCURITÉ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4"/>
          <p:cNvSpPr/>
          <p:nvPr/>
        </p:nvSpPr>
        <p:spPr>
          <a:xfrm>
            <a:off x="952500" y="1266825"/>
            <a:ext cx="17335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Sécurité </a:t>
            </a:r>
            <a:r>
              <a:rPr b="1" lang="en-US" sz="4800">
                <a:solidFill>
                  <a:srgbClr val="0F172A"/>
                </a:solidFill>
              </a:rPr>
              <a:t>-</a:t>
            </a: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HMAC &amp; RLS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4"/>
          <p:cNvSpPr/>
          <p:nvPr/>
        </p:nvSpPr>
        <p:spPr>
          <a:xfrm>
            <a:off x="952500" y="2495550"/>
            <a:ext cx="7886700" cy="4143375"/>
          </a:xfrm>
          <a:prstGeom prst="roundRect">
            <a:avLst>
              <a:gd fmla="val 3678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4"/>
          <p:cNvSpPr/>
          <p:nvPr/>
        </p:nvSpPr>
        <p:spPr>
          <a:xfrm>
            <a:off x="1371600" y="2914650"/>
            <a:ext cx="7753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Validation HMAC </a:t>
            </a:r>
            <a:r>
              <a:rPr b="1" lang="en-US" sz="2550">
                <a:solidFill>
                  <a:srgbClr val="93C5FD"/>
                </a:solidFill>
              </a:rPr>
              <a:t>-</a:t>
            </a:r>
            <a:r>
              <a:rPr b="1" i="0" lang="en-US" sz="255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Twilio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4"/>
          <p:cNvSpPr/>
          <p:nvPr/>
        </p:nvSpPr>
        <p:spPr>
          <a:xfrm>
            <a:off x="1371600" y="35909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4"/>
          <p:cNvSpPr/>
          <p:nvPr/>
        </p:nvSpPr>
        <p:spPr>
          <a:xfrm>
            <a:off x="1600200" y="3495675"/>
            <a:ext cx="702449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Twilio signe chaque requête webhook avec un HMAC SHA-1 — garantit l'authenticité de la source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4"/>
          <p:cNvSpPr/>
          <p:nvPr/>
        </p:nvSpPr>
        <p:spPr>
          <a:xfrm>
            <a:off x="1371600" y="45434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4"/>
          <p:cNvSpPr/>
          <p:nvPr/>
        </p:nvSpPr>
        <p:spPr>
          <a:xfrm>
            <a:off x="1600200" y="4448175"/>
            <a:ext cx="702449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Reconstruction côté serveur : URL + params triés → HMAC → comparaison base64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4"/>
          <p:cNvSpPr/>
          <p:nvPr/>
        </p:nvSpPr>
        <p:spPr>
          <a:xfrm>
            <a:off x="1371600" y="54959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4"/>
          <p:cNvSpPr/>
          <p:nvPr/>
        </p:nvSpPr>
        <p:spPr>
          <a:xfrm>
            <a:off x="1600200" y="5400675"/>
            <a:ext cx="702449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crypto.timingSafeEqual()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— protection contre les timing attacks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4"/>
          <p:cNvSpPr/>
          <p:nvPr/>
        </p:nvSpPr>
        <p:spPr>
          <a:xfrm>
            <a:off x="9448800" y="2495550"/>
            <a:ext cx="7886700" cy="3733800"/>
          </a:xfrm>
          <a:prstGeom prst="roundRect">
            <a:avLst>
              <a:gd fmla="val 4082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4"/>
          <p:cNvSpPr/>
          <p:nvPr/>
        </p:nvSpPr>
        <p:spPr>
          <a:xfrm>
            <a:off x="9867900" y="2914650"/>
            <a:ext cx="7753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Row Level Security </a:t>
            </a:r>
            <a:r>
              <a:rPr b="1" lang="en-US" sz="2550">
                <a:solidFill>
                  <a:srgbClr val="0F172A"/>
                </a:solidFill>
              </a:rPr>
              <a:t>-</a:t>
            </a: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Supabase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4"/>
          <p:cNvSpPr/>
          <p:nvPr/>
        </p:nvSpPr>
        <p:spPr>
          <a:xfrm>
            <a:off x="9867900" y="35909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4"/>
          <p:cNvSpPr/>
          <p:nvPr/>
        </p:nvSpPr>
        <p:spPr>
          <a:xfrm>
            <a:off x="10096500" y="3495675"/>
            <a:ext cx="702449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Politiques PostgreSQL définies au niveau de la base — chaque artisan ne peut accéder qu'à ses données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4"/>
          <p:cNvSpPr/>
          <p:nvPr/>
        </p:nvSpPr>
        <p:spPr>
          <a:xfrm>
            <a:off x="9867900" y="4543425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4"/>
          <p:cNvSpPr/>
          <p:nvPr/>
        </p:nvSpPr>
        <p:spPr>
          <a:xfrm>
            <a:off x="10096500" y="4448175"/>
            <a:ext cx="594139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Politique RLS : </a:t>
            </a:r>
            <a:r>
              <a:rPr b="0" i="0" lang="en-US" sz="1950" u="none" cap="none" strike="noStrike">
                <a:solidFill>
                  <a:srgbClr val="1D4ED8"/>
                </a:solidFill>
                <a:highlight>
                  <a:srgbClr val="DBEAFE"/>
                </a:highlight>
                <a:latin typeface="Courier New"/>
                <a:ea typeface="Courier New"/>
                <a:cs typeface="Courier New"/>
                <a:sym typeface="Courier New"/>
              </a:rPr>
              <a:t>artisan_id = auth.uid()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4"/>
          <p:cNvSpPr/>
          <p:nvPr/>
        </p:nvSpPr>
        <p:spPr>
          <a:xfrm>
            <a:off x="9867900" y="5105400"/>
            <a:ext cx="76200" cy="76200"/>
          </a:xfrm>
          <a:prstGeom prst="roundRect">
            <a:avLst>
              <a:gd fmla="val 25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4"/>
          <p:cNvSpPr/>
          <p:nvPr/>
        </p:nvSpPr>
        <p:spPr>
          <a:xfrm>
            <a:off x="10096500" y="5010150"/>
            <a:ext cx="702449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Sécurité garantie même en cas de bug applicatif — défense en profondeur au niveau base de données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5"/>
          <p:cNvSpPr/>
          <p:nvPr/>
        </p:nvSpPr>
        <p:spPr>
          <a:xfrm>
            <a:off x="952500" y="838200"/>
            <a:ext cx="173355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SÉCURITÉ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952500" y="1266825"/>
            <a:ext cx="17335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Sécurité — OWASP Top 10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5"/>
          <p:cNvSpPr/>
          <p:nvPr/>
        </p:nvSpPr>
        <p:spPr>
          <a:xfrm>
            <a:off x="952500" y="2495550"/>
            <a:ext cx="5308550" cy="2581275"/>
          </a:xfrm>
          <a:prstGeom prst="roundRect">
            <a:avLst>
              <a:gd fmla="val 5166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5"/>
          <p:cNvSpPr/>
          <p:nvPr/>
        </p:nvSpPr>
        <p:spPr>
          <a:xfrm>
            <a:off x="1257300" y="2800350"/>
            <a:ext cx="51688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A03 · INJECTION 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5"/>
          <p:cNvSpPr/>
          <p:nvPr/>
        </p:nvSpPr>
        <p:spPr>
          <a:xfrm>
            <a:off x="1257300" y="317182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Requêtes 100% paramétrées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les valeurs utilisateur ne sont jamais interpolées dans les chaînes SQL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5"/>
          <p:cNvSpPr/>
          <p:nvPr/>
        </p:nvSpPr>
        <p:spPr>
          <a:xfrm>
            <a:off x="6489650" y="2495550"/>
            <a:ext cx="5308550" cy="2581275"/>
          </a:xfrm>
          <a:prstGeom prst="roundRect">
            <a:avLst>
              <a:gd fmla="val 5166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5"/>
          <p:cNvSpPr/>
          <p:nvPr/>
        </p:nvSpPr>
        <p:spPr>
          <a:xfrm>
            <a:off x="6794450" y="2800350"/>
            <a:ext cx="51688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A07 · XSS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5"/>
          <p:cNvSpPr/>
          <p:nvPr/>
        </p:nvSpPr>
        <p:spPr>
          <a:xfrm>
            <a:off x="6794450" y="3171825"/>
            <a:ext cx="4839919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React protège nativement contre les XSS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échappement automatique de toutes les valeurs insérées dans le DOM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5"/>
          <p:cNvSpPr/>
          <p:nvPr/>
        </p:nvSpPr>
        <p:spPr>
          <a:xfrm>
            <a:off x="12026801" y="2495550"/>
            <a:ext cx="5308550" cy="2581275"/>
          </a:xfrm>
          <a:prstGeom prst="roundRect">
            <a:avLst>
              <a:gd fmla="val 5166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5"/>
          <p:cNvSpPr/>
          <p:nvPr/>
        </p:nvSpPr>
        <p:spPr>
          <a:xfrm>
            <a:off x="12331601" y="2800350"/>
            <a:ext cx="516884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A01 · AUTH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5"/>
          <p:cNvSpPr/>
          <p:nvPr/>
        </p:nvSpPr>
        <p:spPr>
          <a:xfrm>
            <a:off x="12331601" y="317182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Supabase Auth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JWT, hachage bcrypt, cookies HTTP-Only, confirmation d'email à l'inscription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5"/>
          <p:cNvSpPr/>
          <p:nvPr/>
        </p:nvSpPr>
        <p:spPr>
          <a:xfrm>
            <a:off x="3330400" y="5279575"/>
            <a:ext cx="5308500" cy="22002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5"/>
          <p:cNvSpPr/>
          <p:nvPr/>
        </p:nvSpPr>
        <p:spPr>
          <a:xfrm>
            <a:off x="3635200" y="5584375"/>
            <a:ext cx="5168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CSRF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5"/>
          <p:cNvSpPr/>
          <p:nvPr/>
        </p:nvSpPr>
        <p:spPr>
          <a:xfrm>
            <a:off x="3635200" y="5955850"/>
            <a:ext cx="4839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Cookies SameSite:strict, maxAge 24h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protection contre les requêtes cross-site forgées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5"/>
          <p:cNvSpPr/>
          <p:nvPr/>
        </p:nvSpPr>
        <p:spPr>
          <a:xfrm>
            <a:off x="8867550" y="5279575"/>
            <a:ext cx="5308500" cy="22002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5"/>
          <p:cNvSpPr/>
          <p:nvPr/>
        </p:nvSpPr>
        <p:spPr>
          <a:xfrm>
            <a:off x="9172350" y="5584375"/>
            <a:ext cx="51687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RATE LIMITING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5"/>
          <p:cNvSpPr/>
          <p:nvPr/>
        </p:nvSpPr>
        <p:spPr>
          <a:xfrm>
            <a:off x="9172350" y="5955850"/>
            <a:ext cx="4839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Limitations strictes sur les routes login et soumission pour prévenir les attaques brute force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6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ARTISAN-AI · VEILLE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6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Veille Technologique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6"/>
          <p:cNvSpPr/>
          <p:nvPr/>
        </p:nvSpPr>
        <p:spPr>
          <a:xfrm>
            <a:off x="952500" y="2495550"/>
            <a:ext cx="5308550" cy="2314575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6"/>
          <p:cNvSpPr/>
          <p:nvPr/>
        </p:nvSpPr>
        <p:spPr>
          <a:xfrm>
            <a:off x="1257300" y="2800350"/>
            <a:ext cx="516884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Documentation officielle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6"/>
          <p:cNvSpPr/>
          <p:nvPr/>
        </p:nvSpPr>
        <p:spPr>
          <a:xfrm>
            <a:off x="1257300" y="330517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Next.js Docs, Supabase Docs, Twilio Docs, Stripe Docs — sources primaires pour chaque SDK et service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6"/>
          <p:cNvSpPr/>
          <p:nvPr/>
        </p:nvSpPr>
        <p:spPr>
          <a:xfrm>
            <a:off x="6489650" y="2495550"/>
            <a:ext cx="5308550" cy="2314575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6"/>
          <p:cNvSpPr/>
          <p:nvPr/>
        </p:nvSpPr>
        <p:spPr>
          <a:xfrm>
            <a:off x="6794450" y="2800350"/>
            <a:ext cx="516884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GitHub Changelog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6"/>
          <p:cNvSpPr/>
          <p:nvPr/>
        </p:nvSpPr>
        <p:spPr>
          <a:xfrm>
            <a:off x="6794450" y="330517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Release Notes et dépôts GitHub des bibliothèques — suivi des mises à jour et breaking changes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6"/>
          <p:cNvSpPr/>
          <p:nvPr/>
        </p:nvSpPr>
        <p:spPr>
          <a:xfrm>
            <a:off x="12026801" y="2495550"/>
            <a:ext cx="5308550" cy="2314575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6"/>
          <p:cNvSpPr/>
          <p:nvPr/>
        </p:nvSpPr>
        <p:spPr>
          <a:xfrm>
            <a:off x="12331601" y="2800350"/>
            <a:ext cx="516884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Dev.to &amp; Medium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6"/>
          <p:cNvSpPr/>
          <p:nvPr/>
        </p:nvSpPr>
        <p:spPr>
          <a:xfrm>
            <a:off x="12331601" y="3305175"/>
            <a:ext cx="4839919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Articles de blog écrits par des développeurs, retours d'expérience pratiques et guides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6"/>
          <p:cNvSpPr/>
          <p:nvPr/>
        </p:nvSpPr>
        <p:spPr>
          <a:xfrm>
            <a:off x="3511325" y="5116250"/>
            <a:ext cx="5308500" cy="2314500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6"/>
          <p:cNvSpPr/>
          <p:nvPr/>
        </p:nvSpPr>
        <p:spPr>
          <a:xfrm>
            <a:off x="3816125" y="5421050"/>
            <a:ext cx="5168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Reddit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6"/>
          <p:cNvSpPr/>
          <p:nvPr/>
        </p:nvSpPr>
        <p:spPr>
          <a:xfrm>
            <a:off x="3816125" y="5925875"/>
            <a:ext cx="4839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r/webdev, r/reactjs — discussions communauté, questions/réponses, partage d'expériences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6"/>
          <p:cNvSpPr/>
          <p:nvPr/>
        </p:nvSpPr>
        <p:spPr>
          <a:xfrm>
            <a:off x="9048475" y="5116250"/>
            <a:ext cx="5308500" cy="2314500"/>
          </a:xfrm>
          <a:prstGeom prst="roundRect">
            <a:avLst>
              <a:gd fmla="val 5761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36"/>
          <p:cNvSpPr/>
          <p:nvPr/>
        </p:nvSpPr>
        <p:spPr>
          <a:xfrm>
            <a:off x="9353275" y="5421050"/>
            <a:ext cx="5168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YouTube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6"/>
          <p:cNvSpPr/>
          <p:nvPr/>
        </p:nvSpPr>
        <p:spPr>
          <a:xfrm>
            <a:off x="9353275" y="5925875"/>
            <a:ext cx="48399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Kevin Powell, Traversy Media, Web Dev Simplified — explications visuelles de nouveaux concepts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7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ARTISAN-AI · BILAN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7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Bilan artisan-ai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7"/>
          <p:cNvSpPr/>
          <p:nvPr/>
        </p:nvSpPr>
        <p:spPr>
          <a:xfrm>
            <a:off x="952500" y="24955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7"/>
          <p:cNvSpPr/>
          <p:nvPr/>
        </p:nvSpPr>
        <p:spPr>
          <a:xfrm>
            <a:off x="1304925" y="28479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Projet solo complet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7"/>
          <p:cNvSpPr/>
          <p:nvPr/>
        </p:nvSpPr>
        <p:spPr>
          <a:xfrm>
            <a:off x="1304925" y="3476625"/>
            <a:ext cx="4741811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Application SaaS de A à Z : conception, développement, sécurisation</a:t>
            </a:r>
            <a:r>
              <a:rPr lang="en-US" sz="2100">
                <a:solidFill>
                  <a:srgbClr val="94A3B8"/>
                </a:solidFill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7"/>
          <p:cNvSpPr/>
          <p:nvPr/>
        </p:nvSpPr>
        <p:spPr>
          <a:xfrm>
            <a:off x="6489650" y="24955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7"/>
          <p:cNvSpPr/>
          <p:nvPr/>
        </p:nvSpPr>
        <p:spPr>
          <a:xfrm>
            <a:off x="6842075" y="28479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Architecture moderne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7"/>
          <p:cNvSpPr/>
          <p:nvPr/>
        </p:nvSpPr>
        <p:spPr>
          <a:xfrm>
            <a:off x="6842075" y="3476625"/>
            <a:ext cx="474181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Next.js 14 App Router + Supabase </a:t>
            </a:r>
            <a:r>
              <a:rPr lang="en-US" sz="2100">
                <a:solidFill>
                  <a:srgbClr val="94A3B8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Server Components, RLS, Edge Functions, architecture 2025/2026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7"/>
          <p:cNvSpPr/>
          <p:nvPr/>
        </p:nvSpPr>
        <p:spPr>
          <a:xfrm>
            <a:off x="12026801" y="24955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37"/>
          <p:cNvSpPr/>
          <p:nvPr/>
        </p:nvSpPr>
        <p:spPr>
          <a:xfrm>
            <a:off x="12379226" y="28479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IA + SaaS intégré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7"/>
          <p:cNvSpPr/>
          <p:nvPr/>
        </p:nvSpPr>
        <p:spPr>
          <a:xfrm>
            <a:off x="12379226" y="3476625"/>
            <a:ext cx="4741811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Claude d'Anthropic, Twilio WhatsApp, Stripe </a:t>
            </a:r>
            <a:r>
              <a:rPr lang="en-US" sz="2100">
                <a:solidFill>
                  <a:srgbClr val="94A3B8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première utilisation d'une API d'IA en production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7"/>
          <p:cNvSpPr/>
          <p:nvPr/>
        </p:nvSpPr>
        <p:spPr>
          <a:xfrm>
            <a:off x="952500" y="56578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37"/>
          <p:cNvSpPr/>
          <p:nvPr/>
        </p:nvSpPr>
        <p:spPr>
          <a:xfrm>
            <a:off x="1304925" y="60102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Sécurité avancée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7"/>
          <p:cNvSpPr/>
          <p:nvPr/>
        </p:nvSpPr>
        <p:spPr>
          <a:xfrm>
            <a:off x="1304925" y="6638925"/>
            <a:ext cx="474181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HMAC SHA-1, RLS PostgreSQL, OWASP Top 10, Supabase Auth </a:t>
            </a:r>
            <a:r>
              <a:rPr lang="en-US" sz="2100">
                <a:solidFill>
                  <a:srgbClr val="94A3B8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sécurité défense en profondeur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7"/>
          <p:cNvSpPr/>
          <p:nvPr/>
        </p:nvSpPr>
        <p:spPr>
          <a:xfrm>
            <a:off x="6489650" y="56578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FFFFFF">
              <a:alpha val="5882"/>
            </a:srgbClr>
          </a:solidFill>
          <a:ln cap="flat" cmpd="sng" w="9525">
            <a:solidFill>
              <a:srgbClr val="FFFFFF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7"/>
          <p:cNvSpPr/>
          <p:nvPr/>
        </p:nvSpPr>
        <p:spPr>
          <a:xfrm>
            <a:off x="6842075" y="6010275"/>
            <a:ext cx="506407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Veille en anglais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7"/>
          <p:cNvSpPr/>
          <p:nvPr/>
        </p:nvSpPr>
        <p:spPr>
          <a:xfrm>
            <a:off x="6842075" y="6638925"/>
            <a:ext cx="4741811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Documentation Twilio exclusivement en anglais </a:t>
            </a:r>
            <a:r>
              <a:rPr lang="en-US" sz="2100">
                <a:solidFill>
                  <a:srgbClr val="94A3B8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compétence indispensable dans l'écosystème web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7"/>
          <p:cNvSpPr/>
          <p:nvPr/>
        </p:nvSpPr>
        <p:spPr>
          <a:xfrm>
            <a:off x="12026801" y="5657850"/>
            <a:ext cx="5308550" cy="2933700"/>
          </a:xfrm>
          <a:prstGeom prst="roundRect">
            <a:avLst>
              <a:gd fmla="val 4545" name="adj"/>
            </a:avLst>
          </a:prstGeom>
          <a:solidFill>
            <a:srgbClr val="2563EB">
              <a:alpha val="20000"/>
            </a:srgbClr>
          </a:solidFill>
          <a:ln cap="flat" cmpd="sng" w="9525">
            <a:solidFill>
              <a:srgbClr val="93C5FD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37"/>
          <p:cNvSpPr/>
          <p:nvPr/>
        </p:nvSpPr>
        <p:spPr>
          <a:xfrm>
            <a:off x="13929070" y="6276975"/>
            <a:ext cx="150401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AT1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7"/>
          <p:cNvSpPr/>
          <p:nvPr/>
        </p:nvSpPr>
        <p:spPr>
          <a:xfrm>
            <a:off x="13929070" y="7000875"/>
            <a:ext cx="15040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7"/>
          <p:cNvSpPr/>
          <p:nvPr/>
        </p:nvSpPr>
        <p:spPr>
          <a:xfrm>
            <a:off x="13929070" y="7286625"/>
            <a:ext cx="150401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AT2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8"/>
          <p:cNvSpPr/>
          <p:nvPr/>
        </p:nvSpPr>
        <p:spPr>
          <a:xfrm>
            <a:off x="952500" y="2799011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ACTIVITÉS TYPES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8"/>
          <p:cNvSpPr/>
          <p:nvPr/>
        </p:nvSpPr>
        <p:spPr>
          <a:xfrm>
            <a:off x="952500" y="3341936"/>
            <a:ext cx="18021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100"/>
              <a:buFont typeface="Arial"/>
              <a:buNone/>
            </a:pPr>
            <a:r>
              <a:rPr b="1" i="0" lang="en-US" sz="8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Compétences Acquises</a:t>
            </a:r>
            <a:endParaRPr b="0" i="0" sz="8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8"/>
          <p:cNvSpPr/>
          <p:nvPr/>
        </p:nvSpPr>
        <p:spPr>
          <a:xfrm>
            <a:off x="952500" y="4637336"/>
            <a:ext cx="6858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38"/>
          <p:cNvSpPr/>
          <p:nvPr/>
        </p:nvSpPr>
        <p:spPr>
          <a:xfrm>
            <a:off x="952500" y="5018336"/>
            <a:ext cx="8044815" cy="16409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Bilan des compétences développées au cours des 16 mois de formation, validées par les deux projets — AT1 (front-end) et AT2 (back-end).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8"/>
          <p:cNvSpPr/>
          <p:nvPr/>
        </p:nvSpPr>
        <p:spPr>
          <a:xfrm>
            <a:off x="952500" y="7078414"/>
            <a:ext cx="2273796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8"/>
          <p:cNvSpPr/>
          <p:nvPr/>
        </p:nvSpPr>
        <p:spPr>
          <a:xfrm>
            <a:off x="1171575" y="7183189"/>
            <a:ext cx="191184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AT1 </a:t>
            </a:r>
            <a:r>
              <a:rPr b="1" lang="en-US" sz="1800">
                <a:solidFill>
                  <a:srgbClr val="93C5FD"/>
                </a:solidFill>
              </a:rPr>
              <a:t>-</a:t>
            </a: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Front-End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8"/>
          <p:cNvSpPr/>
          <p:nvPr/>
        </p:nvSpPr>
        <p:spPr>
          <a:xfrm>
            <a:off x="3416796" y="7078414"/>
            <a:ext cx="2281982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38"/>
          <p:cNvSpPr/>
          <p:nvPr/>
        </p:nvSpPr>
        <p:spPr>
          <a:xfrm>
            <a:off x="3635871" y="7183189"/>
            <a:ext cx="192003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AT2 </a:t>
            </a:r>
            <a:r>
              <a:rPr b="1" lang="en-US" sz="1800">
                <a:solidFill>
                  <a:srgbClr val="93C5FD"/>
                </a:solidFill>
              </a:rPr>
              <a:t>-</a:t>
            </a: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 Back-End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8"/>
          <p:cNvSpPr/>
          <p:nvPr/>
        </p:nvSpPr>
        <p:spPr>
          <a:xfrm>
            <a:off x="5889278" y="7078414"/>
            <a:ext cx="1994743" cy="485775"/>
          </a:xfrm>
          <a:prstGeom prst="roundRect">
            <a:avLst>
              <a:gd fmla="val 15686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8"/>
          <p:cNvSpPr/>
          <p:nvPr/>
        </p:nvSpPr>
        <p:spPr>
          <a:xfrm>
            <a:off x="6108353" y="7183189"/>
            <a:ext cx="163279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Transversales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9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COMPÉTENCES · TRANSVERSALES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9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Compétences Transversales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9"/>
          <p:cNvSpPr/>
          <p:nvPr/>
        </p:nvSpPr>
        <p:spPr>
          <a:xfrm>
            <a:off x="952500" y="2495550"/>
            <a:ext cx="8058150" cy="2695575"/>
          </a:xfrm>
          <a:prstGeom prst="roundRect">
            <a:avLst>
              <a:gd fmla="val 56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9"/>
          <p:cNvSpPr/>
          <p:nvPr/>
        </p:nvSpPr>
        <p:spPr>
          <a:xfrm>
            <a:off x="1333500" y="2876550"/>
            <a:ext cx="80257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Sécurité web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9"/>
          <p:cNvSpPr/>
          <p:nvPr/>
        </p:nvSpPr>
        <p:spPr>
          <a:xfrm>
            <a:off x="1333500" y="3581400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OWASP Top 10 comme référentiel de sécurité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9"/>
          <p:cNvSpPr/>
          <p:nvPr/>
        </p:nvSpPr>
        <p:spPr>
          <a:xfrm>
            <a:off x="1333500" y="4029075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Authentification sécurisée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hachage, JWT, HMAC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9"/>
          <p:cNvSpPr/>
          <p:nvPr/>
        </p:nvSpPr>
        <p:spPr>
          <a:xfrm>
            <a:off x="1333500" y="4476750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Cookies HTTP-Only, rate limiting, validation des entrées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9"/>
          <p:cNvSpPr/>
          <p:nvPr/>
        </p:nvSpPr>
        <p:spPr>
          <a:xfrm>
            <a:off x="9277350" y="2495550"/>
            <a:ext cx="8058150" cy="2695575"/>
          </a:xfrm>
          <a:prstGeom prst="roundRect">
            <a:avLst>
              <a:gd fmla="val 56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39"/>
          <p:cNvSpPr/>
          <p:nvPr/>
        </p:nvSpPr>
        <p:spPr>
          <a:xfrm>
            <a:off x="9658350" y="2876550"/>
            <a:ext cx="80257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Gestion de projet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9"/>
          <p:cNvSpPr/>
          <p:nvPr/>
        </p:nvSpPr>
        <p:spPr>
          <a:xfrm>
            <a:off x="9658350" y="3581400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Expérience Agile en équipe (marsAI) et en solo (artisan-ai)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9"/>
          <p:cNvSpPr/>
          <p:nvPr/>
        </p:nvSpPr>
        <p:spPr>
          <a:xfrm>
            <a:off x="9658350" y="4029075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GitHub Projects </a:t>
            </a:r>
            <a:r>
              <a:rPr lang="en-US" sz="2100">
                <a:solidFill>
                  <a:srgbClr val="5A6A85"/>
                </a:solidFill>
              </a:rPr>
              <a:t>-</a:t>
            </a: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 Kanban, stand-ups quotidiens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9"/>
          <p:cNvSpPr/>
          <p:nvPr/>
        </p:nvSpPr>
        <p:spPr>
          <a:xfrm>
            <a:off x="9658350" y="4476750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Contrôle de l'intégration et revue des contributions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9"/>
          <p:cNvSpPr/>
          <p:nvPr/>
        </p:nvSpPr>
        <p:spPr>
          <a:xfrm>
            <a:off x="952500" y="5457825"/>
            <a:ext cx="8058150" cy="3028950"/>
          </a:xfrm>
          <a:prstGeom prst="roundRect">
            <a:avLst>
              <a:gd fmla="val 503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19050">
              <a:srgbClr val="0F1B3E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9"/>
          <p:cNvSpPr/>
          <p:nvPr/>
        </p:nvSpPr>
        <p:spPr>
          <a:xfrm>
            <a:off x="1333500" y="5838825"/>
            <a:ext cx="802576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Contrôle de version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9"/>
          <p:cNvSpPr/>
          <p:nvPr/>
        </p:nvSpPr>
        <p:spPr>
          <a:xfrm>
            <a:off x="1333500" y="6543675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Git avancé — branches, merges, Pull Requests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9"/>
          <p:cNvSpPr/>
          <p:nvPr/>
        </p:nvSpPr>
        <p:spPr>
          <a:xfrm>
            <a:off x="1333500" y="6991350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Conventional Commits — historique lisible et structuré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9"/>
          <p:cNvSpPr/>
          <p:nvPr/>
        </p:nvSpPr>
        <p:spPr>
          <a:xfrm>
            <a:off x="1333500" y="7439025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· Code review — revue des contributions de l'équipe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9"/>
          <p:cNvSpPr/>
          <p:nvPr/>
        </p:nvSpPr>
        <p:spPr>
          <a:xfrm>
            <a:off x="9277350" y="5457825"/>
            <a:ext cx="8058150" cy="3028950"/>
          </a:xfrm>
          <a:prstGeom prst="roundRect">
            <a:avLst>
              <a:gd fmla="val 5031" name="adj"/>
            </a:avLst>
          </a:prstGeom>
          <a:solidFill>
            <a:srgbClr val="0D1B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9"/>
          <p:cNvSpPr/>
          <p:nvPr/>
        </p:nvSpPr>
        <p:spPr>
          <a:xfrm>
            <a:off x="9632503" y="5838825"/>
            <a:ext cx="76773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Anglais technique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9"/>
          <p:cNvSpPr/>
          <p:nvPr/>
        </p:nvSpPr>
        <p:spPr>
          <a:xfrm>
            <a:off x="9658350" y="6543675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Lecture et exploitation de documentation anglophone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9"/>
          <p:cNvSpPr/>
          <p:nvPr/>
        </p:nvSpPr>
        <p:spPr>
          <a:xfrm>
            <a:off x="9658350" y="6991350"/>
            <a:ext cx="80257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Résolution de problèmes via ressources anglophones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9"/>
          <p:cNvSpPr/>
          <p:nvPr/>
        </p:nvSpPr>
        <p:spPr>
          <a:xfrm>
            <a:off x="9658350" y="7439025"/>
            <a:ext cx="751503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· Indispensable : la majorité de la documentation est en anglais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0"/>
          <p:cNvSpPr/>
          <p:nvPr/>
        </p:nvSpPr>
        <p:spPr>
          <a:xfrm>
            <a:off x="952500" y="838200"/>
            <a:ext cx="18021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COMPÉTENCES · PERSPECTIVES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0"/>
          <p:cNvSpPr/>
          <p:nvPr/>
        </p:nvSpPr>
        <p:spPr>
          <a:xfrm>
            <a:off x="952500" y="1266825"/>
            <a:ext cx="180213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Axes d'Amélioration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0"/>
          <p:cNvSpPr/>
          <p:nvPr/>
        </p:nvSpPr>
        <p:spPr>
          <a:xfrm>
            <a:off x="952500" y="2495550"/>
            <a:ext cx="16383000" cy="1343025"/>
          </a:xfrm>
          <a:prstGeom prst="roundRect">
            <a:avLst>
              <a:gd fmla="val 9929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40"/>
          <p:cNvSpPr/>
          <p:nvPr/>
        </p:nvSpPr>
        <p:spPr>
          <a:xfrm>
            <a:off x="1333500" y="2800350"/>
            <a:ext cx="55125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0"/>
          <p:cNvSpPr/>
          <p:nvPr/>
        </p:nvSpPr>
        <p:spPr>
          <a:xfrm>
            <a:off x="2113359" y="2800350"/>
            <a:ext cx="906925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Tests automatisés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0"/>
          <p:cNvSpPr/>
          <p:nvPr/>
        </p:nvSpPr>
        <p:spPr>
          <a:xfrm>
            <a:off x="2113359" y="3248025"/>
            <a:ext cx="906925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Playwright ou Cypress pour les tests end-to-end · Jest pour les tests unitaires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0"/>
          <p:cNvSpPr/>
          <p:nvPr/>
        </p:nvSpPr>
        <p:spPr>
          <a:xfrm>
            <a:off x="952500" y="4067175"/>
            <a:ext cx="16383000" cy="1343025"/>
          </a:xfrm>
          <a:prstGeom prst="roundRect">
            <a:avLst>
              <a:gd fmla="val 9929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40"/>
          <p:cNvSpPr/>
          <p:nvPr/>
        </p:nvSpPr>
        <p:spPr>
          <a:xfrm>
            <a:off x="1333500" y="4371975"/>
            <a:ext cx="63356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40"/>
          <p:cNvSpPr/>
          <p:nvPr/>
        </p:nvSpPr>
        <p:spPr>
          <a:xfrm>
            <a:off x="2195661" y="4371975"/>
            <a:ext cx="9630787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CI/CD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40"/>
          <p:cNvSpPr/>
          <p:nvPr/>
        </p:nvSpPr>
        <p:spPr>
          <a:xfrm>
            <a:off x="2195661" y="4819650"/>
            <a:ext cx="96307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GitHub Actions — pipelines d'intégration et de déploiement continus automatisés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0"/>
          <p:cNvSpPr/>
          <p:nvPr/>
        </p:nvSpPr>
        <p:spPr>
          <a:xfrm>
            <a:off x="952500" y="5638800"/>
            <a:ext cx="16383000" cy="1343025"/>
          </a:xfrm>
          <a:prstGeom prst="roundRect">
            <a:avLst>
              <a:gd fmla="val 9929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0"/>
          <p:cNvSpPr/>
          <p:nvPr/>
        </p:nvSpPr>
        <p:spPr>
          <a:xfrm>
            <a:off x="1333500" y="5943600"/>
            <a:ext cx="64144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40"/>
          <p:cNvSpPr/>
          <p:nvPr/>
        </p:nvSpPr>
        <p:spPr>
          <a:xfrm>
            <a:off x="2203549" y="5943600"/>
            <a:ext cx="85820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Accessibilité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0"/>
          <p:cNvSpPr/>
          <p:nvPr/>
        </p:nvSpPr>
        <p:spPr>
          <a:xfrm>
            <a:off x="2203549" y="6391275"/>
            <a:ext cx="85820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Axe (ally) — audit systématique de l'accessibilité des interfaces utilisateur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0"/>
          <p:cNvSpPr/>
          <p:nvPr/>
        </p:nvSpPr>
        <p:spPr>
          <a:xfrm>
            <a:off x="952500" y="7210425"/>
            <a:ext cx="16383000" cy="1343025"/>
          </a:xfrm>
          <a:prstGeom prst="roundRect">
            <a:avLst>
              <a:gd fmla="val 9929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0"/>
          <p:cNvSpPr/>
          <p:nvPr/>
        </p:nvSpPr>
        <p:spPr>
          <a:xfrm>
            <a:off x="1333500" y="7515225"/>
            <a:ext cx="654844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0"/>
          <p:cNvSpPr/>
          <p:nvPr/>
        </p:nvSpPr>
        <p:spPr>
          <a:xfrm>
            <a:off x="2216944" y="7515225"/>
            <a:ext cx="11726123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Monitoring &amp; performance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0"/>
          <p:cNvSpPr/>
          <p:nvPr/>
        </p:nvSpPr>
        <p:spPr>
          <a:xfrm>
            <a:off x="2216944" y="7962900"/>
            <a:ext cx="1172612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Sentry (gestion des erreurs), dashboards de métriques pour la santé des applications en production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0"/>
          <p:cNvSpPr/>
          <p:nvPr/>
        </p:nvSpPr>
        <p:spPr>
          <a:xfrm>
            <a:off x="952500" y="8782050"/>
            <a:ext cx="16383000" cy="1343025"/>
          </a:xfrm>
          <a:prstGeom prst="roundRect">
            <a:avLst>
              <a:gd fmla="val 9929" name="adj"/>
            </a:avLst>
          </a:prstGeom>
          <a:solidFill>
            <a:srgbClr val="FFFFFF"/>
          </a:solidFill>
          <a:ln>
            <a:noFill/>
          </a:ln>
          <a:effectLst>
            <a:outerShdw blurRad="95250" rotWithShape="0" algn="bl" dir="5400000" dist="19050">
              <a:srgbClr val="0F1B3E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0"/>
          <p:cNvSpPr/>
          <p:nvPr/>
        </p:nvSpPr>
        <p:spPr>
          <a:xfrm>
            <a:off x="1333500" y="9086850"/>
            <a:ext cx="631924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0"/>
          <p:cNvSpPr/>
          <p:nvPr/>
        </p:nvSpPr>
        <p:spPr>
          <a:xfrm>
            <a:off x="2194024" y="9086850"/>
            <a:ext cx="990582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Architecture micro-services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0"/>
          <p:cNvSpPr/>
          <p:nvPr/>
        </p:nvSpPr>
        <p:spPr>
          <a:xfrm>
            <a:off x="2194024" y="9534525"/>
            <a:ext cx="99058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8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A6A85"/>
                </a:solidFill>
                <a:latin typeface="Arial"/>
                <a:ea typeface="Arial"/>
                <a:cs typeface="Arial"/>
                <a:sym typeface="Arial"/>
              </a:rPr>
              <a:t>Décomposition en services indépendants pour les projets de plus grande envergure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1"/>
          <p:cNvSpPr/>
          <p:nvPr/>
        </p:nvSpPr>
        <p:spPr>
          <a:xfrm>
            <a:off x="952500" y="1086000"/>
            <a:ext cx="170886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BILAN — JUIN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1"/>
          <p:cNvSpPr/>
          <p:nvPr/>
        </p:nvSpPr>
        <p:spPr>
          <a:xfrm>
            <a:off x="952500" y="1638450"/>
            <a:ext cx="17335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 &amp; Perspectives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1"/>
          <p:cNvSpPr/>
          <p:nvPr/>
        </p:nvSpPr>
        <p:spPr>
          <a:xfrm>
            <a:off x="952500" y="2674739"/>
            <a:ext cx="6858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41"/>
          <p:cNvSpPr/>
          <p:nvPr/>
        </p:nvSpPr>
        <p:spPr>
          <a:xfrm>
            <a:off x="952500" y="3093839"/>
            <a:ext cx="9418320" cy="27906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Ces 16 mois de formation à La Plateforme ont été intenses, stimulants et fondateurs. J'arrive à ce titre professionnel avec deux projets web complets qui témoignent de ma capacité à concevoir, développer et sécuriser des applications full-stack — seul ou en équipe.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1"/>
          <p:cNvSpPr/>
          <p:nvPr/>
        </p:nvSpPr>
        <p:spPr>
          <a:xfrm>
            <a:off x="11863536" y="8763000"/>
            <a:ext cx="1335584" cy="523875"/>
          </a:xfrm>
          <a:prstGeom prst="roundRect">
            <a:avLst>
              <a:gd fmla="val 14545" name="adj"/>
            </a:avLst>
          </a:prstGeom>
          <a:solidFill>
            <a:srgbClr val="2563EB">
              <a:alpha val="25098"/>
            </a:srgbClr>
          </a:solidFill>
          <a:ln cap="flat" cmpd="sng" w="9525">
            <a:solidFill>
              <a:srgbClr val="93C5F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1"/>
          <p:cNvSpPr/>
          <p:nvPr/>
        </p:nvSpPr>
        <p:spPr>
          <a:xfrm>
            <a:off x="12139761" y="8886825"/>
            <a:ext cx="85933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marsAI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1"/>
          <p:cNvSpPr/>
          <p:nvPr/>
        </p:nvSpPr>
        <p:spPr>
          <a:xfrm>
            <a:off x="13351520" y="8763000"/>
            <a:ext cx="1613297" cy="523875"/>
          </a:xfrm>
          <a:prstGeom prst="roundRect">
            <a:avLst>
              <a:gd fmla="val 14545" name="adj"/>
            </a:avLst>
          </a:prstGeom>
          <a:solidFill>
            <a:srgbClr val="2563EB">
              <a:alpha val="14901"/>
            </a:srgbClr>
          </a:solidFill>
          <a:ln cap="flat" cmpd="sng" w="9525">
            <a:solidFill>
              <a:srgbClr val="93C5F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1"/>
          <p:cNvSpPr/>
          <p:nvPr/>
        </p:nvSpPr>
        <p:spPr>
          <a:xfrm>
            <a:off x="13627745" y="8886825"/>
            <a:ext cx="113704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artisan-ai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1"/>
          <p:cNvSpPr/>
          <p:nvPr/>
        </p:nvSpPr>
        <p:spPr>
          <a:xfrm>
            <a:off x="15117217" y="8763000"/>
            <a:ext cx="2218283" cy="523875"/>
          </a:xfrm>
          <a:prstGeom prst="roundRect">
            <a:avLst>
              <a:gd fmla="val 14545" name="adj"/>
            </a:avLst>
          </a:prstGeom>
          <a:solidFill>
            <a:srgbClr val="2563EB">
              <a:alpha val="20000"/>
            </a:srgbClr>
          </a:solidFill>
          <a:ln cap="flat" cmpd="sng" w="9525">
            <a:solidFill>
              <a:srgbClr val="93C5FD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1"/>
          <p:cNvSpPr/>
          <p:nvPr/>
        </p:nvSpPr>
        <p:spPr>
          <a:xfrm>
            <a:off x="15393442" y="8886825"/>
            <a:ext cx="174203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RNCP Niveau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